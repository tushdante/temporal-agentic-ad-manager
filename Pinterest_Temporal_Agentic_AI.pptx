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'Thank you for your time today. I'm here to show you why Temporal is the right foundation for Pinterest's agentic AI applications — and I have a working demo to prove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these as questions Pinterest is already dealing with. 'You're already building agents — the question is what infrastructure makes them reliable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row by row. Key talking points: 1) Architecture — 'Restate is a single binary, great for dev, but Temporal's distributed control plane is what you need at Pinterest's scale.' 2) Interaction APIs — 'Signals, Queries, Updates are WHY the HITL pattern in our demo works. Restate doesn't have native equivalents.' 3) Throughput — '450K vs 100K actions/sec. At Pinterest's volume, that gap matters.' 4) Security — 'SOC2 Type II and GDPR for your compliance team. Restate can't offer that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'The workflow is generic — it has zero Pinterest knowledge. To build a different agent, you swap the pinterest/ directory. The same AgentWorkflow powers ad optimization, content moderation, shopping recs — any agentic app.' Walk through the architecture left to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pattern: 1) Dynamic Activities — 'the workflow doesn't know what tools exist. It dispatches by name. Your Ads team adds tools, Shopping team adds tools — nobody touches the core workflow.' 2) HITL — 'genuinely suspended, not polling. The signal comes from Slack, an internal dashboard, CLI.' 3) Parallelism — 'Claude recognizes independent operations and batches them. This isn't hardcoded — the LLM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these patterns solve PRODUCTION problems: ContinueAsNew prevents OOM on month-long campaigns. Temporal retries prevent double-spend. Queries give ops visibility. Config-driven design means one platform team serves multiple agent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where you switch to the live demo. 'Let me show you this running. Watch the agent analyze metrics, make a decision, and ask for human approval — all orchestrated by Temporal.' Run: DEMO_MODE=true python starter.py --campaign 'Demo' --cycles 5, then python run_demo.py -w pinterest-agent-demo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platform play. One agentic framework, multiple teams building agents. The Ads team doesn't touch the Shopping team's code. They just contribute tools to the registry. And the core workflow — the agentic loop, the HITL gates, the durability — is shared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Temporal differentiates fundamentally from Restate. Nexus lets you build a platform. The Ads team deploys their Nexus Service in ads-namespace. The ML team deploys theirs. The agent workflow calls them cross-namespace via a Nexus Endpoint — different teams, different deploy cycles, one agentic platform. Restate has no equivalent.'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campaign is an independent workflow. Workers are stateless pods — auto-scale with demand. Temporal Cloud is battle-tested at millions of concurrent executions. And the durability story is the killer feature: kill the worker, restart, agent resumes. Try that with Restate.'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confidence: 'The question isn't can you build agentic AI at Pinterest — you're already doing it. The question is what makes it reliable, scalable, and auditable at production scale. That's Temporal. Let's start with a POC.'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Text 1"/>
          <p:cNvSpPr/>
          <p:nvPr/>
        </p:nvSpPr>
        <p:spPr>
          <a:xfrm>
            <a:off x="731520" y="914400"/>
            <a:ext cx="7680960" cy="2011680"/>
          </a:xfrm>
          <a:prstGeom prst="rect">
            <a:avLst/>
          </a:prstGeom>
          <a:noFill/>
          <a:ln/>
        </p:spPr>
        <p:txBody>
          <a:bodyPr wrap="square" lIns="0" tIns="0" rIns="0" bIns="0" rtlCol="0" anchor="ctr"/>
          <a:lstStyle/>
          <a:p>
            <a:pPr indent="0" marL="0">
              <a:lnSpc>
                <a:spcPct val="110000"/>
              </a:lnSpc>
              <a:buNone/>
            </a:pPr>
            <a:r>
              <a:rPr lang="en-US" sz="4000" dirty="0">
                <a:solidFill>
                  <a:srgbClr val="FFFFFF"/>
                </a:solidFill>
                <a:latin typeface="Arial Black" pitchFamily="34" charset="0"/>
                <a:ea typeface="Arial Black" pitchFamily="34" charset="-122"/>
                <a:cs typeface="Arial Black" pitchFamily="34" charset="-120"/>
              </a:rPr>
              <a:t>Building Production</a:t>
            </a:r>
            <a:endParaRPr lang="en-US" sz="4000" dirty="0"/>
          </a:p>
          <a:p>
            <a:pPr indent="0" marL="0">
              <a:lnSpc>
                <a:spcPct val="110000"/>
              </a:lnSpc>
              <a:buNone/>
            </a:pPr>
            <a:r>
              <a:rPr lang="en-US" sz="4000" dirty="0">
                <a:solidFill>
                  <a:srgbClr val="FFFFFF"/>
                </a:solidFill>
                <a:latin typeface="Arial Black" pitchFamily="34" charset="0"/>
                <a:ea typeface="Arial Black" pitchFamily="34" charset="-122"/>
                <a:cs typeface="Arial Black" pitchFamily="34" charset="-120"/>
              </a:rPr>
              <a:t>AI Agents at Pinterest</a:t>
            </a:r>
            <a:endParaRPr lang="en-US" sz="4000" dirty="0"/>
          </a:p>
        </p:txBody>
      </p:sp>
      <p:sp>
        <p:nvSpPr>
          <p:cNvPr id="4" name="Text 2"/>
          <p:cNvSpPr/>
          <p:nvPr/>
        </p:nvSpPr>
        <p:spPr>
          <a:xfrm>
            <a:off x="731520" y="2926080"/>
            <a:ext cx="7315200" cy="548640"/>
          </a:xfrm>
          <a:prstGeom prst="rect">
            <a:avLst/>
          </a:prstGeom>
          <a:noFill/>
          <a:ln/>
        </p:spPr>
        <p:txBody>
          <a:bodyPr wrap="square" lIns="0" tIns="0" rIns="0" bIns="0" rtlCol="0" anchor="ctr"/>
          <a:lstStyle/>
          <a:p>
            <a:pPr indent="0" marL="0">
              <a:buNone/>
            </a:pPr>
            <a:r>
              <a:rPr lang="en-US" sz="2200" dirty="0">
                <a:solidFill>
                  <a:srgbClr val="3B82F6"/>
                </a:solidFill>
                <a:latin typeface="Calibri" pitchFamily="34" charset="0"/>
                <a:ea typeface="Calibri" pitchFamily="34" charset="-122"/>
                <a:cs typeface="Calibri" pitchFamily="34" charset="-120"/>
              </a:rPr>
              <a:t>with Temporal Durable Execution</a:t>
            </a:r>
            <a:endParaRPr lang="en-US" sz="2200" dirty="0"/>
          </a:p>
        </p:txBody>
      </p:sp>
      <p:sp>
        <p:nvSpPr>
          <p:cNvPr id="5" name="Shape 3"/>
          <p:cNvSpPr/>
          <p:nvPr/>
        </p:nvSpPr>
        <p:spPr>
          <a:xfrm>
            <a:off x="731520" y="3657600"/>
            <a:ext cx="2286000" cy="0"/>
          </a:xfrm>
          <a:prstGeom prst="line">
            <a:avLst/>
          </a:prstGeom>
          <a:noFill/>
          <a:ln w="38100">
            <a:solidFill>
              <a:srgbClr val="3B82F6"/>
            </a:solidFill>
            <a:prstDash val="solid"/>
          </a:ln>
        </p:spPr>
      </p:sp>
      <p:sp>
        <p:nvSpPr>
          <p:cNvPr id="6" name="Text 4"/>
          <p:cNvSpPr/>
          <p:nvPr/>
        </p:nvSpPr>
        <p:spPr>
          <a:xfrm>
            <a:off x="731520" y="3931920"/>
            <a:ext cx="4572000" cy="36576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Solutions Architecture | Temporal Technologies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Text 1"/>
          <p:cNvSpPr/>
          <p:nvPr/>
        </p:nvSpPr>
        <p:spPr>
          <a:xfrm>
            <a:off x="731520" y="274320"/>
            <a:ext cx="8229600" cy="640080"/>
          </a:xfrm>
          <a:prstGeom prst="rect">
            <a:avLst/>
          </a:prstGeom>
          <a:noFill/>
          <a:ln/>
        </p:spPr>
        <p:txBody>
          <a:bodyPr wrap="square" lIns="0" tIns="0" rIns="0" bIns="0" rtlCol="0" anchor="ctr"/>
          <a:lstStyle/>
          <a:p>
            <a:pPr indent="0" marL="0">
              <a:buNone/>
            </a:pPr>
            <a:r>
              <a:rPr lang="en-US" sz="3200" dirty="0">
                <a:solidFill>
                  <a:srgbClr val="FFFFFF"/>
                </a:solidFill>
                <a:latin typeface="Arial Black" pitchFamily="34" charset="0"/>
                <a:ea typeface="Arial Black" pitchFamily="34" charset="-122"/>
                <a:cs typeface="Arial Black" pitchFamily="34" charset="-120"/>
              </a:rPr>
              <a:t>The Challenge</a:t>
            </a:r>
            <a:endParaRPr lang="en-US" sz="3200" dirty="0"/>
          </a:p>
        </p:txBody>
      </p:sp>
      <p:sp>
        <p:nvSpPr>
          <p:cNvPr id="4" name="Text 2"/>
          <p:cNvSpPr/>
          <p:nvPr/>
        </p:nvSpPr>
        <p:spPr>
          <a:xfrm>
            <a:off x="731520" y="1005840"/>
            <a:ext cx="7680960" cy="822960"/>
          </a:xfrm>
          <a:prstGeom prst="rect">
            <a:avLst/>
          </a:prstGeom>
          <a:noFill/>
          <a:ln/>
        </p:spPr>
        <p:txBody>
          <a:bodyPr wrap="square" lIns="0" tIns="0" rIns="0" bIns="0" rtlCol="0" anchor="ctr"/>
          <a:lstStyle/>
          <a:p>
            <a:pPr indent="0" marL="0">
              <a:buNone/>
            </a:pPr>
            <a:r>
              <a:rPr lang="en-US" sz="1400" dirty="0">
                <a:solidFill>
                  <a:srgbClr val="CBD5E1"/>
                </a:solidFill>
                <a:latin typeface="Calibri" pitchFamily="34" charset="0"/>
                <a:ea typeface="Calibri" pitchFamily="34" charset="-122"/>
                <a:cs typeface="Calibri" pitchFamily="34" charset="-120"/>
              </a:rPr>
              <a:t>Pinterest is building AI agents that run for hours or days — ad optimization, content moderation, shopping recommendations. These aren't request-response. They're long-running, stateful, and autonomous.</a:t>
            </a:r>
            <a:endParaRPr lang="en-US" sz="1400" dirty="0"/>
          </a:p>
        </p:txBody>
      </p:sp>
      <p:sp>
        <p:nvSpPr>
          <p:cNvPr id="5" name="Shape 3"/>
          <p:cNvSpPr/>
          <p:nvPr/>
        </p:nvSpPr>
        <p:spPr>
          <a:xfrm>
            <a:off x="731520" y="2011680"/>
            <a:ext cx="7680960" cy="594360"/>
          </a:xfrm>
          <a:prstGeom prst="rect">
            <a:avLst/>
          </a:prstGeom>
          <a:solidFill>
            <a:srgbClr val="1E293B"/>
          </a:solidFill>
          <a:ln/>
        </p:spPr>
      </p:sp>
      <p:sp>
        <p:nvSpPr>
          <p:cNvPr id="6" name="Shape 4"/>
          <p:cNvSpPr/>
          <p:nvPr/>
        </p:nvSpPr>
        <p:spPr>
          <a:xfrm>
            <a:off x="731520" y="2011680"/>
            <a:ext cx="54864" cy="594360"/>
          </a:xfrm>
          <a:prstGeom prst="rect">
            <a:avLst/>
          </a:prstGeom>
          <a:solidFill>
            <a:srgbClr val="EF4444"/>
          </a:solidFill>
          <a:ln/>
        </p:spPr>
      </p:sp>
      <p:sp>
        <p:nvSpPr>
          <p:cNvPr id="7" name="Text 5"/>
          <p:cNvSpPr/>
          <p:nvPr/>
        </p:nvSpPr>
        <p:spPr>
          <a:xfrm>
            <a:off x="1005840" y="2011680"/>
            <a:ext cx="2011680" cy="5943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Crash Recovery</a:t>
            </a:r>
            <a:endParaRPr lang="en-US" sz="1400" dirty="0"/>
          </a:p>
        </p:txBody>
      </p:sp>
      <p:sp>
        <p:nvSpPr>
          <p:cNvPr id="8" name="Text 6"/>
          <p:cNvSpPr/>
          <p:nvPr/>
        </p:nvSpPr>
        <p:spPr>
          <a:xfrm>
            <a:off x="3017520" y="2011680"/>
            <a:ext cx="5303520" cy="594360"/>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Agent is mid-campaign and the process dies. What happens to state?</a:t>
            </a:r>
            <a:endParaRPr lang="en-US" sz="1300" dirty="0"/>
          </a:p>
        </p:txBody>
      </p:sp>
      <p:sp>
        <p:nvSpPr>
          <p:cNvPr id="9" name="Shape 7"/>
          <p:cNvSpPr/>
          <p:nvPr/>
        </p:nvSpPr>
        <p:spPr>
          <a:xfrm>
            <a:off x="731520" y="2743200"/>
            <a:ext cx="7680960" cy="594360"/>
          </a:xfrm>
          <a:prstGeom prst="rect">
            <a:avLst/>
          </a:prstGeom>
          <a:solidFill>
            <a:srgbClr val="1E293B"/>
          </a:solidFill>
          <a:ln/>
        </p:spPr>
      </p:sp>
      <p:sp>
        <p:nvSpPr>
          <p:cNvPr id="10" name="Shape 8"/>
          <p:cNvSpPr/>
          <p:nvPr/>
        </p:nvSpPr>
        <p:spPr>
          <a:xfrm>
            <a:off x="731520" y="2743200"/>
            <a:ext cx="54864" cy="594360"/>
          </a:xfrm>
          <a:prstGeom prst="rect">
            <a:avLst/>
          </a:prstGeom>
          <a:solidFill>
            <a:srgbClr val="EF4444"/>
          </a:solidFill>
          <a:ln/>
        </p:spPr>
      </p:sp>
      <p:sp>
        <p:nvSpPr>
          <p:cNvPr id="11" name="Text 9"/>
          <p:cNvSpPr/>
          <p:nvPr/>
        </p:nvSpPr>
        <p:spPr>
          <a:xfrm>
            <a:off x="1005840" y="2743200"/>
            <a:ext cx="2011680" cy="5943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Human-in-the-Loop</a:t>
            </a:r>
            <a:endParaRPr lang="en-US" sz="1400" dirty="0"/>
          </a:p>
        </p:txBody>
      </p:sp>
      <p:sp>
        <p:nvSpPr>
          <p:cNvPr id="12" name="Text 10"/>
          <p:cNvSpPr/>
          <p:nvPr/>
        </p:nvSpPr>
        <p:spPr>
          <a:xfrm>
            <a:off x="3017520" y="2743200"/>
            <a:ext cx="5303520" cy="594360"/>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How do you pause an autonomous agent for approval without polling?</a:t>
            </a:r>
            <a:endParaRPr lang="en-US" sz="1300" dirty="0"/>
          </a:p>
        </p:txBody>
      </p:sp>
      <p:sp>
        <p:nvSpPr>
          <p:cNvPr id="13" name="Shape 11"/>
          <p:cNvSpPr/>
          <p:nvPr/>
        </p:nvSpPr>
        <p:spPr>
          <a:xfrm>
            <a:off x="731520" y="3474720"/>
            <a:ext cx="7680960" cy="594360"/>
          </a:xfrm>
          <a:prstGeom prst="rect">
            <a:avLst/>
          </a:prstGeom>
          <a:solidFill>
            <a:srgbClr val="1E293B"/>
          </a:solidFill>
          <a:ln/>
        </p:spPr>
      </p:sp>
      <p:sp>
        <p:nvSpPr>
          <p:cNvPr id="14" name="Shape 12"/>
          <p:cNvSpPr/>
          <p:nvPr/>
        </p:nvSpPr>
        <p:spPr>
          <a:xfrm>
            <a:off x="731520" y="3474720"/>
            <a:ext cx="54864" cy="594360"/>
          </a:xfrm>
          <a:prstGeom prst="rect">
            <a:avLst/>
          </a:prstGeom>
          <a:solidFill>
            <a:srgbClr val="EF4444"/>
          </a:solidFill>
          <a:ln/>
        </p:spPr>
      </p:sp>
      <p:sp>
        <p:nvSpPr>
          <p:cNvPr id="15" name="Text 13"/>
          <p:cNvSpPr/>
          <p:nvPr/>
        </p:nvSpPr>
        <p:spPr>
          <a:xfrm>
            <a:off x="1005840" y="3474720"/>
            <a:ext cx="2011680" cy="5943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Scale</a:t>
            </a:r>
            <a:endParaRPr lang="en-US" sz="1400" dirty="0"/>
          </a:p>
        </p:txBody>
      </p:sp>
      <p:sp>
        <p:nvSpPr>
          <p:cNvPr id="16" name="Text 14"/>
          <p:cNvSpPr/>
          <p:nvPr/>
        </p:nvSpPr>
        <p:spPr>
          <a:xfrm>
            <a:off x="3017520" y="3474720"/>
            <a:ext cx="5303520" cy="594360"/>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10,000 concurrent campaigns, each with its own agent. How do you orchestrate?</a:t>
            </a:r>
            <a:endParaRPr lang="en-US" sz="1300" dirty="0"/>
          </a:p>
        </p:txBody>
      </p:sp>
      <p:sp>
        <p:nvSpPr>
          <p:cNvPr id="17" name="Shape 15"/>
          <p:cNvSpPr/>
          <p:nvPr/>
        </p:nvSpPr>
        <p:spPr>
          <a:xfrm>
            <a:off x="731520" y="4206240"/>
            <a:ext cx="7680960" cy="594360"/>
          </a:xfrm>
          <a:prstGeom prst="rect">
            <a:avLst/>
          </a:prstGeom>
          <a:solidFill>
            <a:srgbClr val="1E293B"/>
          </a:solidFill>
          <a:ln/>
        </p:spPr>
      </p:sp>
      <p:sp>
        <p:nvSpPr>
          <p:cNvPr id="18" name="Shape 16"/>
          <p:cNvSpPr/>
          <p:nvPr/>
        </p:nvSpPr>
        <p:spPr>
          <a:xfrm>
            <a:off x="731520" y="4206240"/>
            <a:ext cx="54864" cy="594360"/>
          </a:xfrm>
          <a:prstGeom prst="rect">
            <a:avLst/>
          </a:prstGeom>
          <a:solidFill>
            <a:srgbClr val="EF4444"/>
          </a:solidFill>
          <a:ln/>
        </p:spPr>
      </p:sp>
      <p:sp>
        <p:nvSpPr>
          <p:cNvPr id="19" name="Text 17"/>
          <p:cNvSpPr/>
          <p:nvPr/>
        </p:nvSpPr>
        <p:spPr>
          <a:xfrm>
            <a:off x="1005840" y="4206240"/>
            <a:ext cx="2011680" cy="5943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Audit Trail</a:t>
            </a:r>
            <a:endParaRPr lang="en-US" sz="1400" dirty="0"/>
          </a:p>
        </p:txBody>
      </p:sp>
      <p:sp>
        <p:nvSpPr>
          <p:cNvPr id="20" name="Text 18"/>
          <p:cNvSpPr/>
          <p:nvPr/>
        </p:nvSpPr>
        <p:spPr>
          <a:xfrm>
            <a:off x="3017520" y="4206240"/>
            <a:ext cx="5303520" cy="594360"/>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Regulators ask what your AI did, when, and why. Can you show them?</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Text 1"/>
          <p:cNvSpPr/>
          <p:nvPr/>
        </p:nvSpPr>
        <p:spPr>
          <a:xfrm>
            <a:off x="731520" y="274320"/>
            <a:ext cx="8229600" cy="548640"/>
          </a:xfrm>
          <a:prstGeom prst="rect">
            <a:avLst/>
          </a:prstGeom>
          <a:noFill/>
          <a:ln/>
        </p:spPr>
        <p:txBody>
          <a:bodyPr wrap="square" lIns="0" tIns="0" rIns="0" bIns="0" rtlCol="0" anchor="ctr"/>
          <a:lstStyle/>
          <a:p>
            <a:pPr indent="0" marL="0">
              <a:buNone/>
            </a:pPr>
            <a:r>
              <a:rPr lang="en-US" sz="3200" dirty="0">
                <a:solidFill>
                  <a:srgbClr val="FFFFFF"/>
                </a:solidFill>
                <a:latin typeface="Arial Black" pitchFamily="34" charset="0"/>
                <a:ea typeface="Arial Black" pitchFamily="34" charset="-122"/>
                <a:cs typeface="Arial Black" pitchFamily="34" charset="-120"/>
              </a:rPr>
              <a:t>Temporal vs Restate</a:t>
            </a:r>
            <a:endParaRPr lang="en-US" sz="3200" dirty="0"/>
          </a:p>
        </p:txBody>
      </p:sp>
      <p:sp>
        <p:nvSpPr>
          <p:cNvPr id="4" name="Shape 2"/>
          <p:cNvSpPr/>
          <p:nvPr/>
        </p:nvSpPr>
        <p:spPr>
          <a:xfrm>
            <a:off x="457200" y="960120"/>
            <a:ext cx="8229600" cy="365760"/>
          </a:xfrm>
          <a:prstGeom prst="rect">
            <a:avLst/>
          </a:prstGeom>
          <a:solidFill>
            <a:srgbClr val="1E293B"/>
          </a:solidFill>
          <a:ln/>
        </p:spPr>
      </p:sp>
      <p:sp>
        <p:nvSpPr>
          <p:cNvPr id="5" name="Text 3"/>
          <p:cNvSpPr/>
          <p:nvPr/>
        </p:nvSpPr>
        <p:spPr>
          <a:xfrm>
            <a:off x="594360" y="960120"/>
            <a:ext cx="1371600" cy="365760"/>
          </a:xfrm>
          <a:prstGeom prst="rect">
            <a:avLst/>
          </a:prstGeom>
          <a:noFill/>
          <a:ln/>
        </p:spPr>
        <p:txBody>
          <a:bodyPr wrap="square" lIns="0" tIns="0" rIns="0" bIns="0"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Area</a:t>
            </a:r>
            <a:endParaRPr lang="en-US" sz="1000" dirty="0"/>
          </a:p>
        </p:txBody>
      </p:sp>
      <p:sp>
        <p:nvSpPr>
          <p:cNvPr id="6" name="Text 4"/>
          <p:cNvSpPr/>
          <p:nvPr/>
        </p:nvSpPr>
        <p:spPr>
          <a:xfrm>
            <a:off x="2011680" y="960120"/>
            <a:ext cx="3291840" cy="365760"/>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Temporal</a:t>
            </a:r>
            <a:endParaRPr lang="en-US" sz="1000" dirty="0"/>
          </a:p>
        </p:txBody>
      </p:sp>
      <p:sp>
        <p:nvSpPr>
          <p:cNvPr id="7" name="Text 5"/>
          <p:cNvSpPr/>
          <p:nvPr/>
        </p:nvSpPr>
        <p:spPr>
          <a:xfrm>
            <a:off x="5394960" y="960120"/>
            <a:ext cx="3200400" cy="365760"/>
          </a:xfrm>
          <a:prstGeom prst="rect">
            <a:avLst/>
          </a:prstGeom>
          <a:noFill/>
          <a:ln/>
        </p:spPr>
        <p:txBody>
          <a:bodyPr wrap="square" lIns="0" tIns="0" rIns="0" bIns="0"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Restate</a:t>
            </a:r>
            <a:endParaRPr lang="en-US" sz="1000" dirty="0"/>
          </a:p>
        </p:txBody>
      </p:sp>
      <p:sp>
        <p:nvSpPr>
          <p:cNvPr id="8" name="Shape 6"/>
          <p:cNvSpPr/>
          <p:nvPr/>
        </p:nvSpPr>
        <p:spPr>
          <a:xfrm>
            <a:off x="457200" y="1371600"/>
            <a:ext cx="8229600" cy="393192"/>
          </a:xfrm>
          <a:prstGeom prst="rect">
            <a:avLst/>
          </a:prstGeom>
          <a:solidFill>
            <a:srgbClr val="141E33"/>
          </a:solidFill>
          <a:ln/>
        </p:spPr>
      </p:sp>
      <p:sp>
        <p:nvSpPr>
          <p:cNvPr id="9" name="Text 7"/>
          <p:cNvSpPr/>
          <p:nvPr/>
        </p:nvSpPr>
        <p:spPr>
          <a:xfrm>
            <a:off x="594360" y="1371600"/>
            <a:ext cx="1371600" cy="393192"/>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Architecture</a:t>
            </a:r>
            <a:endParaRPr lang="en-US" sz="950" dirty="0"/>
          </a:p>
        </p:txBody>
      </p:sp>
      <p:sp>
        <p:nvSpPr>
          <p:cNvPr id="10" name="Text 8"/>
          <p:cNvSpPr/>
          <p:nvPr/>
        </p:nvSpPr>
        <p:spPr>
          <a:xfrm>
            <a:off x="2011680" y="1371600"/>
            <a:ext cx="3291840" cy="393192"/>
          </a:xfrm>
          <a:prstGeom prst="rect">
            <a:avLst/>
          </a:prstGeom>
          <a:noFill/>
          <a:ln/>
        </p:spPr>
        <p:txBody>
          <a:bodyPr wrap="square" lIns="0" tIns="0" rIns="0" bIns="0" rtlCol="0" anchor="ctr"/>
          <a:lstStyle/>
          <a:p>
            <a:pPr indent="0" marL="0">
              <a:buNone/>
            </a:pPr>
            <a:r>
              <a:rPr lang="en-US" sz="900" dirty="0">
                <a:solidFill>
                  <a:srgbClr val="CBD5E1"/>
                </a:solidFill>
                <a:latin typeface="Calibri" pitchFamily="34" charset="0"/>
                <a:ea typeface="Calibri" pitchFamily="34" charset="-122"/>
                <a:cs typeface="Calibri" pitchFamily="34" charset="-120"/>
              </a:rPr>
              <a:t>Distributed, modular, stateless — built for horizontal scale &amp; HA</a:t>
            </a:r>
            <a:endParaRPr lang="en-US" sz="900" dirty="0"/>
          </a:p>
        </p:txBody>
      </p:sp>
      <p:sp>
        <p:nvSpPr>
          <p:cNvPr id="11" name="Text 9"/>
          <p:cNvSpPr/>
          <p:nvPr/>
        </p:nvSpPr>
        <p:spPr>
          <a:xfrm>
            <a:off x="5394960" y="1371600"/>
            <a:ext cx="3200400" cy="3931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Single-binary simplicity; HA story evolving, less proven at enterprise scale</a:t>
            </a:r>
            <a:endParaRPr lang="en-US" sz="900" dirty="0"/>
          </a:p>
        </p:txBody>
      </p:sp>
      <p:sp>
        <p:nvSpPr>
          <p:cNvPr id="12" name="Shape 10"/>
          <p:cNvSpPr/>
          <p:nvPr/>
        </p:nvSpPr>
        <p:spPr>
          <a:xfrm>
            <a:off x="457200" y="1810512"/>
            <a:ext cx="8229600" cy="393192"/>
          </a:xfrm>
          <a:prstGeom prst="rect">
            <a:avLst/>
          </a:prstGeom>
          <a:solidFill>
            <a:srgbClr val="0F172A"/>
          </a:solidFill>
          <a:ln/>
        </p:spPr>
      </p:sp>
      <p:sp>
        <p:nvSpPr>
          <p:cNvPr id="13" name="Text 11"/>
          <p:cNvSpPr/>
          <p:nvPr/>
        </p:nvSpPr>
        <p:spPr>
          <a:xfrm>
            <a:off x="594360" y="1810512"/>
            <a:ext cx="1371600" cy="393192"/>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Workflow Evolution</a:t>
            </a:r>
            <a:endParaRPr lang="en-US" sz="950" dirty="0"/>
          </a:p>
        </p:txBody>
      </p:sp>
      <p:sp>
        <p:nvSpPr>
          <p:cNvPr id="14" name="Text 12"/>
          <p:cNvSpPr/>
          <p:nvPr/>
        </p:nvSpPr>
        <p:spPr>
          <a:xfrm>
            <a:off x="2011680" y="1810512"/>
            <a:ext cx="3291840" cy="393192"/>
          </a:xfrm>
          <a:prstGeom prst="rect">
            <a:avLst/>
          </a:prstGeom>
          <a:noFill/>
          <a:ln/>
        </p:spPr>
        <p:txBody>
          <a:bodyPr wrap="square" lIns="0" tIns="0" rIns="0" bIns="0" rtlCol="0" anchor="ctr"/>
          <a:lstStyle/>
          <a:p>
            <a:pPr indent="0" marL="0">
              <a:buNone/>
            </a:pPr>
            <a:r>
              <a:rPr lang="en-US" sz="900" dirty="0">
                <a:solidFill>
                  <a:srgbClr val="CBD5E1"/>
                </a:solidFill>
                <a:latin typeface="Calibri" pitchFamily="34" charset="0"/>
                <a:ea typeface="Calibri" pitchFamily="34" charset="-122"/>
                <a:cs typeface="Calibri" pitchFamily="34" charset="-120"/>
              </a:rPr>
              <a:t>First-class patching &amp; worker versioning for safe long-running evolution</a:t>
            </a:r>
            <a:endParaRPr lang="en-US" sz="900" dirty="0"/>
          </a:p>
        </p:txBody>
      </p:sp>
      <p:sp>
        <p:nvSpPr>
          <p:cNvPr id="15" name="Text 13"/>
          <p:cNvSpPr/>
          <p:nvPr/>
        </p:nvSpPr>
        <p:spPr>
          <a:xfrm>
            <a:off x="5394960" y="1810512"/>
            <a:ext cx="3200400" cy="3931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Must keep prior deployments running for active workflow generations</a:t>
            </a:r>
            <a:endParaRPr lang="en-US" sz="900" dirty="0"/>
          </a:p>
        </p:txBody>
      </p:sp>
      <p:sp>
        <p:nvSpPr>
          <p:cNvPr id="16" name="Shape 14"/>
          <p:cNvSpPr/>
          <p:nvPr/>
        </p:nvSpPr>
        <p:spPr>
          <a:xfrm>
            <a:off x="457200" y="2249424"/>
            <a:ext cx="8229600" cy="393192"/>
          </a:xfrm>
          <a:prstGeom prst="rect">
            <a:avLst/>
          </a:prstGeom>
          <a:solidFill>
            <a:srgbClr val="141E33"/>
          </a:solidFill>
          <a:ln/>
        </p:spPr>
      </p:sp>
      <p:sp>
        <p:nvSpPr>
          <p:cNvPr id="17" name="Text 15"/>
          <p:cNvSpPr/>
          <p:nvPr/>
        </p:nvSpPr>
        <p:spPr>
          <a:xfrm>
            <a:off x="594360" y="2249424"/>
            <a:ext cx="1371600" cy="393192"/>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Interaction APIs</a:t>
            </a:r>
            <a:endParaRPr lang="en-US" sz="950" dirty="0"/>
          </a:p>
        </p:txBody>
      </p:sp>
      <p:sp>
        <p:nvSpPr>
          <p:cNvPr id="18" name="Text 16"/>
          <p:cNvSpPr/>
          <p:nvPr/>
        </p:nvSpPr>
        <p:spPr>
          <a:xfrm>
            <a:off x="2011680" y="2249424"/>
            <a:ext cx="3291840" cy="393192"/>
          </a:xfrm>
          <a:prstGeom prst="rect">
            <a:avLst/>
          </a:prstGeom>
          <a:noFill/>
          <a:ln/>
        </p:spPr>
        <p:txBody>
          <a:bodyPr wrap="square" lIns="0" tIns="0" rIns="0" bIns="0" rtlCol="0" anchor="ctr"/>
          <a:lstStyle/>
          <a:p>
            <a:pPr indent="0" marL="0">
              <a:buNone/>
            </a:pPr>
            <a:r>
              <a:rPr lang="en-US" sz="900" dirty="0">
                <a:solidFill>
                  <a:srgbClr val="CBD5E1"/>
                </a:solidFill>
                <a:latin typeface="Calibri" pitchFamily="34" charset="0"/>
                <a:ea typeface="Calibri" pitchFamily="34" charset="-122"/>
                <a:cs typeface="Calibri" pitchFamily="34" charset="-120"/>
              </a:rPr>
              <a:t>Signals, Queries, Updates, SignalWithStart, UpdateWithStart</a:t>
            </a:r>
            <a:endParaRPr lang="en-US" sz="900" dirty="0"/>
          </a:p>
        </p:txBody>
      </p:sp>
      <p:sp>
        <p:nvSpPr>
          <p:cNvPr id="19" name="Text 17"/>
          <p:cNvSpPr/>
          <p:nvPr/>
        </p:nvSpPr>
        <p:spPr>
          <a:xfrm>
            <a:off x="5394960" y="2249424"/>
            <a:ext cx="3200400" cy="3931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Narrower interaction surface — limited HITL primitives</a:t>
            </a:r>
            <a:endParaRPr lang="en-US" sz="900" dirty="0"/>
          </a:p>
        </p:txBody>
      </p:sp>
      <p:sp>
        <p:nvSpPr>
          <p:cNvPr id="20" name="Shape 18"/>
          <p:cNvSpPr/>
          <p:nvPr/>
        </p:nvSpPr>
        <p:spPr>
          <a:xfrm>
            <a:off x="457200" y="2688336"/>
            <a:ext cx="8229600" cy="393192"/>
          </a:xfrm>
          <a:prstGeom prst="rect">
            <a:avLst/>
          </a:prstGeom>
          <a:solidFill>
            <a:srgbClr val="0F172A"/>
          </a:solidFill>
          <a:ln/>
        </p:spPr>
      </p:sp>
      <p:sp>
        <p:nvSpPr>
          <p:cNvPr id="21" name="Text 19"/>
          <p:cNvSpPr/>
          <p:nvPr/>
        </p:nvSpPr>
        <p:spPr>
          <a:xfrm>
            <a:off x="594360" y="2688336"/>
            <a:ext cx="1371600" cy="393192"/>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Ops Maturity</a:t>
            </a:r>
            <a:endParaRPr lang="en-US" sz="950" dirty="0"/>
          </a:p>
        </p:txBody>
      </p:sp>
      <p:sp>
        <p:nvSpPr>
          <p:cNvPr id="22" name="Text 20"/>
          <p:cNvSpPr/>
          <p:nvPr/>
        </p:nvSpPr>
        <p:spPr>
          <a:xfrm>
            <a:off x="2011680" y="2688336"/>
            <a:ext cx="3291840" cy="393192"/>
          </a:xfrm>
          <a:prstGeom prst="rect">
            <a:avLst/>
          </a:prstGeom>
          <a:noFill/>
          <a:ln/>
        </p:spPr>
        <p:txBody>
          <a:bodyPr wrap="square" lIns="0" tIns="0" rIns="0" bIns="0" rtlCol="0" anchor="ctr"/>
          <a:lstStyle/>
          <a:p>
            <a:pPr indent="0" marL="0">
              <a:buNone/>
            </a:pPr>
            <a:r>
              <a:rPr lang="en-US" sz="900" dirty="0">
                <a:solidFill>
                  <a:srgbClr val="CBD5E1"/>
                </a:solidFill>
                <a:latin typeface="Calibri" pitchFamily="34" charset="0"/>
                <a:ea typeface="Calibri" pitchFamily="34" charset="-122"/>
                <a:cs typeface="Calibri" pitchFamily="34" charset="-120"/>
              </a:rPr>
              <a:t>Deep observability, scheduling controls, priority/fairness concepts</a:t>
            </a:r>
            <a:endParaRPr lang="en-US" sz="900" dirty="0"/>
          </a:p>
        </p:txBody>
      </p:sp>
      <p:sp>
        <p:nvSpPr>
          <p:cNvPr id="23" name="Text 21"/>
          <p:cNvSpPr/>
          <p:nvPr/>
        </p:nvSpPr>
        <p:spPr>
          <a:xfrm>
            <a:off x="5394960" y="2688336"/>
            <a:ext cx="3200400" cy="3931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Simpler ops footprint; large-scale multi-team maturity catching up</a:t>
            </a:r>
            <a:endParaRPr lang="en-US" sz="900" dirty="0"/>
          </a:p>
        </p:txBody>
      </p:sp>
      <p:sp>
        <p:nvSpPr>
          <p:cNvPr id="24" name="Shape 22"/>
          <p:cNvSpPr/>
          <p:nvPr/>
        </p:nvSpPr>
        <p:spPr>
          <a:xfrm>
            <a:off x="457200" y="3127248"/>
            <a:ext cx="8229600" cy="393192"/>
          </a:xfrm>
          <a:prstGeom prst="rect">
            <a:avLst/>
          </a:prstGeom>
          <a:solidFill>
            <a:srgbClr val="141E33"/>
          </a:solidFill>
          <a:ln/>
        </p:spPr>
      </p:sp>
      <p:sp>
        <p:nvSpPr>
          <p:cNvPr id="25" name="Text 23"/>
          <p:cNvSpPr/>
          <p:nvPr/>
        </p:nvSpPr>
        <p:spPr>
          <a:xfrm>
            <a:off x="594360" y="3127248"/>
            <a:ext cx="1371600" cy="393192"/>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SDK Coverage</a:t>
            </a:r>
            <a:endParaRPr lang="en-US" sz="950" dirty="0"/>
          </a:p>
        </p:txBody>
      </p:sp>
      <p:sp>
        <p:nvSpPr>
          <p:cNvPr id="26" name="Text 24"/>
          <p:cNvSpPr/>
          <p:nvPr/>
        </p:nvSpPr>
        <p:spPr>
          <a:xfrm>
            <a:off x="2011680" y="3127248"/>
            <a:ext cx="3291840" cy="393192"/>
          </a:xfrm>
          <a:prstGeom prst="rect">
            <a:avLst/>
          </a:prstGeom>
          <a:noFill/>
          <a:ln/>
        </p:spPr>
        <p:txBody>
          <a:bodyPr wrap="square" lIns="0" tIns="0" rIns="0" bIns="0" rtlCol="0" anchor="ctr"/>
          <a:lstStyle/>
          <a:p>
            <a:pPr indent="0" marL="0">
              <a:buNone/>
            </a:pPr>
            <a:r>
              <a:rPr lang="en-US" sz="900" dirty="0">
                <a:solidFill>
                  <a:srgbClr val="CBD5E1"/>
                </a:solidFill>
                <a:latin typeface="Calibri" pitchFamily="34" charset="0"/>
                <a:ea typeface="Calibri" pitchFamily="34" charset="-122"/>
                <a:cs typeface="Calibri" pitchFamily="34" charset="-120"/>
              </a:rPr>
              <a:t>Broad polyglot set: Python, Go, Java, TS, .NET</a:t>
            </a:r>
            <a:endParaRPr lang="en-US" sz="900" dirty="0"/>
          </a:p>
        </p:txBody>
      </p:sp>
      <p:sp>
        <p:nvSpPr>
          <p:cNvPr id="27" name="Text 25"/>
          <p:cNvSpPr/>
          <p:nvPr/>
        </p:nvSpPr>
        <p:spPr>
          <a:xfrm>
            <a:off x="5394960" y="3127248"/>
            <a:ext cx="3200400" cy="3931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Multiple SDKs but narrower language coverage</a:t>
            </a:r>
            <a:endParaRPr lang="en-US" sz="900" dirty="0"/>
          </a:p>
        </p:txBody>
      </p:sp>
      <p:sp>
        <p:nvSpPr>
          <p:cNvPr id="28" name="Shape 26"/>
          <p:cNvSpPr/>
          <p:nvPr/>
        </p:nvSpPr>
        <p:spPr>
          <a:xfrm>
            <a:off x="457200" y="3566160"/>
            <a:ext cx="8229600" cy="393192"/>
          </a:xfrm>
          <a:prstGeom prst="rect">
            <a:avLst/>
          </a:prstGeom>
          <a:solidFill>
            <a:srgbClr val="0F172A"/>
          </a:solidFill>
          <a:ln/>
        </p:spPr>
      </p:sp>
      <p:sp>
        <p:nvSpPr>
          <p:cNvPr id="29" name="Text 27"/>
          <p:cNvSpPr/>
          <p:nvPr/>
        </p:nvSpPr>
        <p:spPr>
          <a:xfrm>
            <a:off x="594360" y="3566160"/>
            <a:ext cx="1371600" cy="393192"/>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Throughput</a:t>
            </a:r>
            <a:endParaRPr lang="en-US" sz="950" dirty="0"/>
          </a:p>
        </p:txBody>
      </p:sp>
      <p:sp>
        <p:nvSpPr>
          <p:cNvPr id="30" name="Text 28"/>
          <p:cNvSpPr/>
          <p:nvPr/>
        </p:nvSpPr>
        <p:spPr>
          <a:xfrm>
            <a:off x="2011680" y="3566160"/>
            <a:ext cx="3291840" cy="393192"/>
          </a:xfrm>
          <a:prstGeom prst="rect">
            <a:avLst/>
          </a:prstGeom>
          <a:noFill/>
          <a:ln/>
        </p:spPr>
        <p:txBody>
          <a:bodyPr wrap="square" lIns="0" tIns="0" rIns="0" bIns="0" rtlCol="0" anchor="ctr"/>
          <a:lstStyle/>
          <a:p>
            <a:pPr indent="0" marL="0">
              <a:buNone/>
            </a:pPr>
            <a:r>
              <a:rPr lang="en-US" sz="900" dirty="0">
                <a:solidFill>
                  <a:srgbClr val="CBD5E1"/>
                </a:solidFill>
                <a:latin typeface="Calibri" pitchFamily="34" charset="0"/>
                <a:ea typeface="Calibri" pitchFamily="34" charset="-122"/>
                <a:cs typeface="Calibri" pitchFamily="34" charset="-120"/>
              </a:rPr>
              <a:t>450K+ actions/sec proven at scale</a:t>
            </a:r>
            <a:endParaRPr lang="en-US" sz="900" dirty="0"/>
          </a:p>
        </p:txBody>
      </p:sp>
      <p:sp>
        <p:nvSpPr>
          <p:cNvPr id="31" name="Text 29"/>
          <p:cNvSpPr/>
          <p:nvPr/>
        </p:nvSpPr>
        <p:spPr>
          <a:xfrm>
            <a:off x="5394960" y="3566160"/>
            <a:ext cx="3200400" cy="3931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Caps at ~100K actions/sec</a:t>
            </a:r>
            <a:endParaRPr lang="en-US" sz="900" dirty="0"/>
          </a:p>
        </p:txBody>
      </p:sp>
      <p:sp>
        <p:nvSpPr>
          <p:cNvPr id="32" name="Shape 30"/>
          <p:cNvSpPr/>
          <p:nvPr/>
        </p:nvSpPr>
        <p:spPr>
          <a:xfrm>
            <a:off x="457200" y="4005072"/>
            <a:ext cx="8229600" cy="393192"/>
          </a:xfrm>
          <a:prstGeom prst="rect">
            <a:avLst/>
          </a:prstGeom>
          <a:solidFill>
            <a:srgbClr val="141E33"/>
          </a:solidFill>
          <a:ln/>
        </p:spPr>
      </p:sp>
      <p:sp>
        <p:nvSpPr>
          <p:cNvPr id="33" name="Text 31"/>
          <p:cNvSpPr/>
          <p:nvPr/>
        </p:nvSpPr>
        <p:spPr>
          <a:xfrm>
            <a:off x="594360" y="4005072"/>
            <a:ext cx="1371600" cy="393192"/>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Security</a:t>
            </a:r>
            <a:endParaRPr lang="en-US" sz="950" dirty="0"/>
          </a:p>
        </p:txBody>
      </p:sp>
      <p:sp>
        <p:nvSpPr>
          <p:cNvPr id="34" name="Text 32"/>
          <p:cNvSpPr/>
          <p:nvPr/>
        </p:nvSpPr>
        <p:spPr>
          <a:xfrm>
            <a:off x="2011680" y="4005072"/>
            <a:ext cx="3291840" cy="393192"/>
          </a:xfrm>
          <a:prstGeom prst="rect">
            <a:avLst/>
          </a:prstGeom>
          <a:noFill/>
          <a:ln/>
        </p:spPr>
        <p:txBody>
          <a:bodyPr wrap="square" lIns="0" tIns="0" rIns="0" bIns="0" rtlCol="0" anchor="ctr"/>
          <a:lstStyle/>
          <a:p>
            <a:pPr indent="0" marL="0">
              <a:buNone/>
            </a:pPr>
            <a:r>
              <a:rPr lang="en-US" sz="900" dirty="0">
                <a:solidFill>
                  <a:srgbClr val="CBD5E1"/>
                </a:solidFill>
                <a:latin typeface="Calibri" pitchFamily="34" charset="0"/>
                <a:ea typeface="Calibri" pitchFamily="34" charset="-122"/>
                <a:cs typeface="Calibri" pitchFamily="34" charset="-120"/>
              </a:rPr>
              <a:t>SOC2 Type II, GDPR, PrivateLink, audit logging</a:t>
            </a:r>
            <a:endParaRPr lang="en-US" sz="900" dirty="0"/>
          </a:p>
        </p:txBody>
      </p:sp>
      <p:sp>
        <p:nvSpPr>
          <p:cNvPr id="35" name="Text 33"/>
          <p:cNvSpPr/>
          <p:nvPr/>
        </p:nvSpPr>
        <p:spPr>
          <a:xfrm>
            <a:off x="5394960" y="4005072"/>
            <a:ext cx="3200400" cy="3931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N/A — limited compliance story</a:t>
            </a:r>
            <a:endParaRPr lang="en-US" sz="900" dirty="0"/>
          </a:p>
        </p:txBody>
      </p:sp>
      <p:sp>
        <p:nvSpPr>
          <p:cNvPr id="36" name="Shape 34"/>
          <p:cNvSpPr/>
          <p:nvPr/>
        </p:nvSpPr>
        <p:spPr>
          <a:xfrm>
            <a:off x="457200" y="4443984"/>
            <a:ext cx="8229600" cy="393192"/>
          </a:xfrm>
          <a:prstGeom prst="rect">
            <a:avLst/>
          </a:prstGeom>
          <a:solidFill>
            <a:srgbClr val="0F172A"/>
          </a:solidFill>
          <a:ln/>
        </p:spPr>
      </p:sp>
      <p:sp>
        <p:nvSpPr>
          <p:cNvPr id="37" name="Text 35"/>
          <p:cNvSpPr/>
          <p:nvPr/>
        </p:nvSpPr>
        <p:spPr>
          <a:xfrm>
            <a:off x="594360" y="4443984"/>
            <a:ext cx="1371600" cy="393192"/>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Support</a:t>
            </a:r>
            <a:endParaRPr lang="en-US" sz="950" dirty="0"/>
          </a:p>
        </p:txBody>
      </p:sp>
      <p:sp>
        <p:nvSpPr>
          <p:cNvPr id="38" name="Text 36"/>
          <p:cNvSpPr/>
          <p:nvPr/>
        </p:nvSpPr>
        <p:spPr>
          <a:xfrm>
            <a:off x="2011680" y="4443984"/>
            <a:ext cx="3291840" cy="393192"/>
          </a:xfrm>
          <a:prstGeom prst="rect">
            <a:avLst/>
          </a:prstGeom>
          <a:noFill/>
          <a:ln/>
        </p:spPr>
        <p:txBody>
          <a:bodyPr wrap="square" lIns="0" tIns="0" rIns="0" bIns="0" rtlCol="0" anchor="ctr"/>
          <a:lstStyle/>
          <a:p>
            <a:pPr indent="0" marL="0">
              <a:buNone/>
            </a:pPr>
            <a:r>
              <a:rPr lang="en-US" sz="900" dirty="0">
                <a:solidFill>
                  <a:srgbClr val="CBD5E1"/>
                </a:solidFill>
                <a:latin typeface="Calibri" pitchFamily="34" charset="0"/>
                <a:ea typeface="Calibri" pitchFamily="34" charset="-122"/>
                <a:cs typeface="Calibri" pitchFamily="34" charset="-120"/>
              </a:rPr>
              <a:t>Dedicated SAs, code reviews, 15-min P0 SLA (mission-critical)</a:t>
            </a:r>
            <a:endParaRPr lang="en-US" sz="900" dirty="0"/>
          </a:p>
        </p:txBody>
      </p:sp>
      <p:sp>
        <p:nvSpPr>
          <p:cNvPr id="39" name="Text 37"/>
          <p:cNvSpPr/>
          <p:nvPr/>
        </p:nvSpPr>
        <p:spPr>
          <a:xfrm>
            <a:off x="5394960" y="4443984"/>
            <a:ext cx="3200400" cy="39319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Slack support, 30-min P0 SLA on Cloud</a:t>
            </a:r>
            <a:endParaRPr lang="en-US" sz="900" dirty="0"/>
          </a:p>
        </p:txBody>
      </p:sp>
      <p:sp>
        <p:nvSpPr>
          <p:cNvPr id="40" name="Shape 38"/>
          <p:cNvSpPr/>
          <p:nvPr/>
        </p:nvSpPr>
        <p:spPr>
          <a:xfrm>
            <a:off x="457200" y="4572000"/>
            <a:ext cx="8229600" cy="411480"/>
          </a:xfrm>
          <a:prstGeom prst="rect">
            <a:avLst/>
          </a:prstGeom>
          <a:solidFill>
            <a:srgbClr val="1E293B"/>
          </a:solidFill>
          <a:ln/>
        </p:spPr>
      </p:sp>
      <p:sp>
        <p:nvSpPr>
          <p:cNvPr id="41" name="Text 39"/>
          <p:cNvSpPr/>
          <p:nvPr/>
        </p:nvSpPr>
        <p:spPr>
          <a:xfrm>
            <a:off x="594360" y="4572000"/>
            <a:ext cx="7955280" cy="411480"/>
          </a:xfrm>
          <a:prstGeom prst="rect">
            <a:avLst/>
          </a:prstGeom>
          <a:noFill/>
          <a:ln/>
        </p:spPr>
        <p:txBody>
          <a:bodyPr wrap="square" lIns="0" tIns="0" rIns="0" bIns="0" rtlCol="0" anchor="ctr"/>
          <a:lstStyle/>
          <a:p>
            <a:pPr indent="0" marL="0">
              <a:buNone/>
            </a:pPr>
            <a:r>
              <a:rPr lang="en-US" sz="1000" i="1" dirty="0">
                <a:solidFill>
                  <a:srgbClr val="3B82F6"/>
                </a:solidFill>
                <a:latin typeface="Calibri" pitchFamily="34" charset="0"/>
                <a:ea typeface="Calibri" pitchFamily="34" charset="-122"/>
                <a:cs typeface="Calibri" pitchFamily="34" charset="-120"/>
              </a:rPr>
              <a:t>Choose Temporal when you need proven scale, safe long-running evolution, rich interaction APIs, and mature operations.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Text 1"/>
          <p:cNvSpPr/>
          <p:nvPr/>
        </p:nvSpPr>
        <p:spPr>
          <a:xfrm>
            <a:off x="731520" y="274320"/>
            <a:ext cx="8229600" cy="64008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Architecture: Generic Agentic Framework</a:t>
            </a:r>
            <a:endParaRPr lang="en-US" sz="2800" dirty="0"/>
          </a:p>
        </p:txBody>
      </p:sp>
      <p:sp>
        <p:nvSpPr>
          <p:cNvPr id="4" name="Text 2"/>
          <p:cNvSpPr/>
          <p:nvPr/>
        </p:nvSpPr>
        <p:spPr>
          <a:xfrm>
            <a:off x="731520" y="868680"/>
            <a:ext cx="7680960" cy="411480"/>
          </a:xfrm>
          <a:prstGeom prst="rect">
            <a:avLst/>
          </a:prstGeom>
          <a:noFill/>
          <a:ln/>
        </p:spPr>
        <p:txBody>
          <a:bodyPr wrap="square" lIns="0" tIns="0" rIns="0" bIns="0" rtlCol="0" anchor="ctr"/>
          <a:lstStyle/>
          <a:p>
            <a:pPr indent="0" marL="0">
              <a:buNone/>
            </a:pPr>
            <a:r>
              <a:rPr lang="en-US" sz="1300" i="1" dirty="0">
                <a:solidFill>
                  <a:srgbClr val="F59E0B"/>
                </a:solidFill>
                <a:latin typeface="Calibri" pitchFamily="34" charset="0"/>
                <a:ea typeface="Calibri" pitchFamily="34" charset="-122"/>
                <a:cs typeface="Calibri" pitchFamily="34" charset="-120"/>
              </a:rPr>
              <a:t>The workflow has ZERO Pinterest knowledge. All domain logic lives in tools and prompts.</a:t>
            </a:r>
            <a:endParaRPr lang="en-US" sz="1300" dirty="0"/>
          </a:p>
        </p:txBody>
      </p:sp>
      <p:sp>
        <p:nvSpPr>
          <p:cNvPr id="5" name="Shape 3"/>
          <p:cNvSpPr/>
          <p:nvPr/>
        </p:nvSpPr>
        <p:spPr>
          <a:xfrm>
            <a:off x="365760" y="1554480"/>
            <a:ext cx="1920240" cy="1188720"/>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6" name="Shape 4"/>
          <p:cNvSpPr/>
          <p:nvPr/>
        </p:nvSpPr>
        <p:spPr>
          <a:xfrm>
            <a:off x="365760" y="1554480"/>
            <a:ext cx="1920240" cy="45720"/>
          </a:xfrm>
          <a:prstGeom prst="rect">
            <a:avLst/>
          </a:prstGeom>
          <a:solidFill>
            <a:srgbClr val="3B82F6"/>
          </a:solidFill>
          <a:ln/>
        </p:spPr>
      </p:sp>
      <p:sp>
        <p:nvSpPr>
          <p:cNvPr id="7" name="Text 5"/>
          <p:cNvSpPr/>
          <p:nvPr/>
        </p:nvSpPr>
        <p:spPr>
          <a:xfrm>
            <a:off x="502920" y="1664208"/>
            <a:ext cx="164592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AgentWorkflow</a:t>
            </a:r>
            <a:endParaRPr lang="en-US" sz="1200" dirty="0"/>
          </a:p>
        </p:txBody>
      </p:sp>
      <p:sp>
        <p:nvSpPr>
          <p:cNvPr id="8" name="Text 6"/>
          <p:cNvSpPr/>
          <p:nvPr/>
        </p:nvSpPr>
        <p:spPr>
          <a:xfrm>
            <a:off x="502920" y="1965960"/>
            <a:ext cx="1645920" cy="731520"/>
          </a:xfrm>
          <a:prstGeom prst="rect">
            <a:avLst/>
          </a:prstGeom>
          <a:noFill/>
          <a:ln/>
        </p:spPr>
        <p:txBody>
          <a:bodyPr wrap="square" lIns="0" tIns="0" rIns="0" bIns="0" rtlCol="0" anchor="ctr"/>
          <a:lstStyle/>
          <a:p>
            <a:pPr indent="0" marL="0">
              <a:buNone/>
            </a:pPr>
            <a:r>
              <a:rPr lang="en-US" sz="900" dirty="0">
                <a:solidFill>
                  <a:srgbClr val="94A3B8"/>
                </a:solidFill>
                <a:latin typeface="Consolas" pitchFamily="34" charset="0"/>
                <a:ea typeface="Consolas" pitchFamily="34" charset="-122"/>
                <a:cs typeface="Consolas" pitchFamily="34" charset="-120"/>
              </a:rPr>
              <a:t>agent/workflow.py</a:t>
            </a:r>
            <a:endParaRPr lang="en-US" sz="900" dirty="0"/>
          </a:p>
          <a:p>
            <a:pPr indent="0" marL="0">
              <a:buNone/>
            </a:pPr>
            <a:endParaRPr lang="en-US" sz="900" dirty="0"/>
          </a:p>
          <a:p>
            <a:pPr indent="0" marL="0">
              <a:buNone/>
            </a:pPr>
            <a:r>
              <a:rPr lang="en-US" sz="900" dirty="0">
                <a:solidFill>
                  <a:srgbClr val="94A3B8"/>
                </a:solidFill>
                <a:latin typeface="Consolas" pitchFamily="34" charset="0"/>
                <a:ea typeface="Consolas" pitchFamily="34" charset="-122"/>
                <a:cs typeface="Consolas" pitchFamily="34" charset="-120"/>
              </a:rPr>
              <a:t>Generic agentic loop</a:t>
            </a:r>
            <a:endParaRPr lang="en-US" sz="900" dirty="0"/>
          </a:p>
          <a:p>
            <a:pPr indent="0" marL="0">
              <a:buNone/>
            </a:pPr>
            <a:r>
              <a:rPr lang="en-US" sz="900" dirty="0">
                <a:solidFill>
                  <a:srgbClr val="94A3B8"/>
                </a:solidFill>
                <a:latin typeface="Consolas" pitchFamily="34" charset="0"/>
                <a:ea typeface="Consolas" pitchFamily="34" charset="-122"/>
                <a:cs typeface="Consolas" pitchFamily="34" charset="-120"/>
              </a:rPr>
              <a:t>Signals + Queries</a:t>
            </a:r>
            <a:endParaRPr lang="en-US" sz="900" dirty="0"/>
          </a:p>
          <a:p>
            <a:pPr indent="0" marL="0">
              <a:buNone/>
            </a:pPr>
            <a:r>
              <a:rPr lang="en-US" sz="900" dirty="0">
                <a:solidFill>
                  <a:srgbClr val="94A3B8"/>
                </a:solidFill>
                <a:latin typeface="Consolas" pitchFamily="34" charset="0"/>
                <a:ea typeface="Consolas" pitchFamily="34" charset="-122"/>
                <a:cs typeface="Consolas" pitchFamily="34" charset="-120"/>
              </a:rPr>
              <a:t>ContinueAsNew</a:t>
            </a:r>
            <a:endParaRPr lang="en-US" sz="900" dirty="0"/>
          </a:p>
        </p:txBody>
      </p:sp>
      <p:sp>
        <p:nvSpPr>
          <p:cNvPr id="9" name="Shape 7"/>
          <p:cNvSpPr/>
          <p:nvPr/>
        </p:nvSpPr>
        <p:spPr>
          <a:xfrm>
            <a:off x="2743200" y="1554480"/>
            <a:ext cx="1920240" cy="1188720"/>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10" name="Shape 8"/>
          <p:cNvSpPr/>
          <p:nvPr/>
        </p:nvSpPr>
        <p:spPr>
          <a:xfrm>
            <a:off x="2743200" y="1554480"/>
            <a:ext cx="1920240" cy="45720"/>
          </a:xfrm>
          <a:prstGeom prst="rect">
            <a:avLst/>
          </a:prstGeom>
          <a:solidFill>
            <a:srgbClr val="22C55E"/>
          </a:solidFill>
          <a:ln/>
        </p:spPr>
      </p:sp>
      <p:sp>
        <p:nvSpPr>
          <p:cNvPr id="11" name="Text 9"/>
          <p:cNvSpPr/>
          <p:nvPr/>
        </p:nvSpPr>
        <p:spPr>
          <a:xfrm>
            <a:off x="2880360" y="1664208"/>
            <a:ext cx="164592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LLM Planner</a:t>
            </a:r>
            <a:endParaRPr lang="en-US" sz="1200" dirty="0"/>
          </a:p>
        </p:txBody>
      </p:sp>
      <p:sp>
        <p:nvSpPr>
          <p:cNvPr id="12" name="Text 10"/>
          <p:cNvSpPr/>
          <p:nvPr/>
        </p:nvSpPr>
        <p:spPr>
          <a:xfrm>
            <a:off x="2880360" y="1965960"/>
            <a:ext cx="1645920" cy="731520"/>
          </a:xfrm>
          <a:prstGeom prst="rect">
            <a:avLst/>
          </a:prstGeom>
          <a:noFill/>
          <a:ln/>
        </p:spPr>
        <p:txBody>
          <a:bodyPr wrap="square" lIns="0" tIns="0" rIns="0" bIns="0" rtlCol="0" anchor="ctr"/>
          <a:lstStyle/>
          <a:p>
            <a:pPr indent="0" marL="0">
              <a:buNone/>
            </a:pPr>
            <a:r>
              <a:rPr lang="en-US" sz="900" dirty="0">
                <a:solidFill>
                  <a:srgbClr val="94A3B8"/>
                </a:solidFill>
                <a:latin typeface="Consolas" pitchFamily="34" charset="0"/>
                <a:ea typeface="Consolas" pitchFamily="34" charset="-122"/>
                <a:cs typeface="Consolas" pitchFamily="34" charset="-120"/>
              </a:rPr>
              <a:t>agent/activities.py</a:t>
            </a:r>
            <a:endParaRPr lang="en-US" sz="900" dirty="0"/>
          </a:p>
          <a:p>
            <a:pPr indent="0" marL="0">
              <a:buNone/>
            </a:pPr>
            <a:endParaRPr lang="en-US" sz="900" dirty="0"/>
          </a:p>
          <a:p>
            <a:pPr indent="0" marL="0">
              <a:buNone/>
            </a:pPr>
            <a:r>
              <a:rPr lang="en-US" sz="900" dirty="0">
                <a:solidFill>
                  <a:srgbClr val="94A3B8"/>
                </a:solidFill>
                <a:latin typeface="Consolas" pitchFamily="34" charset="0"/>
                <a:ea typeface="Consolas" pitchFamily="34" charset="-122"/>
                <a:cs typeface="Consolas" pitchFamily="34" charset="-120"/>
              </a:rPr>
              <a:t>Claude tool_use API</a:t>
            </a:r>
            <a:endParaRPr lang="en-US" sz="900" dirty="0"/>
          </a:p>
          <a:p>
            <a:pPr indent="0" marL="0">
              <a:buNone/>
            </a:pPr>
            <a:r>
              <a:rPr lang="en-US" sz="900" dirty="0">
                <a:solidFill>
                  <a:srgbClr val="94A3B8"/>
                </a:solidFill>
                <a:latin typeface="Consolas" pitchFamily="34" charset="0"/>
                <a:ea typeface="Consolas" pitchFamily="34" charset="-122"/>
                <a:cs typeface="Consolas" pitchFamily="34" charset="-120"/>
              </a:rPr>
              <a:t>Conversation history</a:t>
            </a:r>
            <a:endParaRPr lang="en-US" sz="900" dirty="0"/>
          </a:p>
          <a:p>
            <a:pPr indent="0" marL="0">
              <a:buNone/>
            </a:pPr>
            <a:r>
              <a:rPr lang="en-US" sz="900" dirty="0">
                <a:solidFill>
                  <a:srgbClr val="94A3B8"/>
                </a:solidFill>
                <a:latin typeface="Consolas" pitchFamily="34" charset="0"/>
                <a:ea typeface="Consolas" pitchFamily="34" charset="-122"/>
                <a:cs typeface="Consolas" pitchFamily="34" charset="-120"/>
              </a:rPr>
              <a:t>Retries by Temporal</a:t>
            </a:r>
            <a:endParaRPr lang="en-US" sz="900" dirty="0"/>
          </a:p>
        </p:txBody>
      </p:sp>
      <p:sp>
        <p:nvSpPr>
          <p:cNvPr id="13" name="Shape 11"/>
          <p:cNvSpPr/>
          <p:nvPr/>
        </p:nvSpPr>
        <p:spPr>
          <a:xfrm>
            <a:off x="5120640" y="1554480"/>
            <a:ext cx="1920240" cy="1188720"/>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14" name="Shape 12"/>
          <p:cNvSpPr/>
          <p:nvPr/>
        </p:nvSpPr>
        <p:spPr>
          <a:xfrm>
            <a:off x="5120640" y="1554480"/>
            <a:ext cx="1920240" cy="45720"/>
          </a:xfrm>
          <a:prstGeom prst="rect">
            <a:avLst/>
          </a:prstGeom>
          <a:solidFill>
            <a:srgbClr val="F97316"/>
          </a:solidFill>
          <a:ln/>
        </p:spPr>
      </p:sp>
      <p:sp>
        <p:nvSpPr>
          <p:cNvPr id="15" name="Text 13"/>
          <p:cNvSpPr/>
          <p:nvPr/>
        </p:nvSpPr>
        <p:spPr>
          <a:xfrm>
            <a:off x="5257800" y="1664208"/>
            <a:ext cx="164592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Dynamic Dispatch</a:t>
            </a:r>
            <a:endParaRPr lang="en-US" sz="1200" dirty="0"/>
          </a:p>
        </p:txBody>
      </p:sp>
      <p:sp>
        <p:nvSpPr>
          <p:cNvPr id="16" name="Text 14"/>
          <p:cNvSpPr/>
          <p:nvPr/>
        </p:nvSpPr>
        <p:spPr>
          <a:xfrm>
            <a:off x="5257800" y="1965960"/>
            <a:ext cx="1645920" cy="731520"/>
          </a:xfrm>
          <a:prstGeom prst="rect">
            <a:avLst/>
          </a:prstGeom>
          <a:noFill/>
          <a:ln/>
        </p:spPr>
        <p:txBody>
          <a:bodyPr wrap="square" lIns="0" tIns="0" rIns="0" bIns="0" rtlCol="0" anchor="ctr"/>
          <a:lstStyle/>
          <a:p>
            <a:pPr indent="0" marL="0">
              <a:buNone/>
            </a:pPr>
            <a:r>
              <a:rPr lang="en-US" sz="900" dirty="0">
                <a:solidFill>
                  <a:srgbClr val="94A3B8"/>
                </a:solidFill>
                <a:latin typeface="Consolas" pitchFamily="34" charset="0"/>
                <a:ea typeface="Consolas" pitchFamily="34" charset="-122"/>
                <a:cs typeface="Consolas" pitchFamily="34" charset="-120"/>
              </a:rPr>
              <a:t>@activity.defn</a:t>
            </a:r>
            <a:endParaRPr lang="en-US" sz="900" dirty="0"/>
          </a:p>
          <a:p>
            <a:pPr indent="0" marL="0">
              <a:buNone/>
            </a:pPr>
            <a:r>
              <a:rPr lang="en-US" sz="900" dirty="0">
                <a:solidFill>
                  <a:srgbClr val="94A3B8"/>
                </a:solidFill>
                <a:latin typeface="Consolas" pitchFamily="34" charset="0"/>
                <a:ea typeface="Consolas" pitchFamily="34" charset="-122"/>
                <a:cs typeface="Consolas" pitchFamily="34" charset="-120"/>
              </a:rPr>
              <a:t>  (dynamic=True)</a:t>
            </a:r>
            <a:endParaRPr lang="en-US" sz="900" dirty="0"/>
          </a:p>
          <a:p>
            <a:pPr indent="0" marL="0">
              <a:buNone/>
            </a:pPr>
            <a:endParaRPr lang="en-US" sz="900" dirty="0"/>
          </a:p>
          <a:p>
            <a:pPr indent="0" marL="0">
              <a:buNone/>
            </a:pPr>
            <a:r>
              <a:rPr lang="en-US" sz="900" dirty="0">
                <a:solidFill>
                  <a:srgbClr val="94A3B8"/>
                </a:solidFill>
                <a:latin typeface="Consolas" pitchFamily="34" charset="0"/>
                <a:ea typeface="Consolas" pitchFamily="34" charset="-122"/>
                <a:cs typeface="Consolas" pitchFamily="34" charset="-120"/>
              </a:rPr>
              <a:t>Tool name at runtime</a:t>
            </a:r>
            <a:endParaRPr lang="en-US" sz="900" dirty="0"/>
          </a:p>
          <a:p>
            <a:pPr indent="0" marL="0">
              <a:buNone/>
            </a:pPr>
            <a:r>
              <a:rPr lang="en-US" sz="900" dirty="0">
                <a:solidFill>
                  <a:srgbClr val="94A3B8"/>
                </a:solidFill>
                <a:latin typeface="Consolas" pitchFamily="34" charset="0"/>
                <a:ea typeface="Consolas" pitchFamily="34" charset="-122"/>
                <a:cs typeface="Consolas" pitchFamily="34" charset="-120"/>
              </a:rPr>
              <a:t>Parallel execution</a:t>
            </a:r>
            <a:endParaRPr lang="en-US" sz="900" dirty="0"/>
          </a:p>
        </p:txBody>
      </p:sp>
      <p:sp>
        <p:nvSpPr>
          <p:cNvPr id="17" name="Shape 15"/>
          <p:cNvSpPr/>
          <p:nvPr/>
        </p:nvSpPr>
        <p:spPr>
          <a:xfrm>
            <a:off x="7498080" y="1554480"/>
            <a:ext cx="1371600" cy="1188720"/>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18" name="Shape 16"/>
          <p:cNvSpPr/>
          <p:nvPr/>
        </p:nvSpPr>
        <p:spPr>
          <a:xfrm>
            <a:off x="7498080" y="1554480"/>
            <a:ext cx="1371600" cy="45720"/>
          </a:xfrm>
          <a:prstGeom prst="rect">
            <a:avLst/>
          </a:prstGeom>
          <a:solidFill>
            <a:srgbClr val="F59E0B"/>
          </a:solidFill>
          <a:ln/>
        </p:spPr>
      </p:sp>
      <p:sp>
        <p:nvSpPr>
          <p:cNvPr id="19" name="Text 17"/>
          <p:cNvSpPr/>
          <p:nvPr/>
        </p:nvSpPr>
        <p:spPr>
          <a:xfrm>
            <a:off x="7635240" y="1664208"/>
            <a:ext cx="109728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Tool Registry</a:t>
            </a:r>
            <a:endParaRPr lang="en-US" sz="1200" dirty="0"/>
          </a:p>
        </p:txBody>
      </p:sp>
      <p:sp>
        <p:nvSpPr>
          <p:cNvPr id="20" name="Text 18"/>
          <p:cNvSpPr/>
          <p:nvPr/>
        </p:nvSpPr>
        <p:spPr>
          <a:xfrm>
            <a:off x="7635240" y="1965960"/>
            <a:ext cx="1097280" cy="731520"/>
          </a:xfrm>
          <a:prstGeom prst="rect">
            <a:avLst/>
          </a:prstGeom>
          <a:noFill/>
          <a:ln/>
        </p:spPr>
        <p:txBody>
          <a:bodyPr wrap="square" lIns="0" tIns="0" rIns="0" bIns="0" rtlCol="0" anchor="ctr"/>
          <a:lstStyle/>
          <a:p>
            <a:pPr indent="0" marL="0">
              <a:buNone/>
            </a:pPr>
            <a:r>
              <a:rPr lang="en-US" sz="900" dirty="0">
                <a:solidFill>
                  <a:srgbClr val="94A3B8"/>
                </a:solidFill>
                <a:latin typeface="Consolas" pitchFamily="34" charset="0"/>
                <a:ea typeface="Consolas" pitchFamily="34" charset="-122"/>
                <a:cs typeface="Consolas" pitchFamily="34" charset="-120"/>
              </a:rPr>
              <a:t>pinterest/tools/</a:t>
            </a:r>
            <a:endParaRPr lang="en-US" sz="900" dirty="0"/>
          </a:p>
          <a:p>
            <a:pPr indent="0" marL="0">
              <a:buNone/>
            </a:pPr>
            <a:endParaRPr lang="en-US" sz="900" dirty="0"/>
          </a:p>
          <a:p>
            <a:pPr indent="0" marL="0">
              <a:buNone/>
            </a:pPr>
            <a:r>
              <a:rPr lang="en-US" sz="900" dirty="0">
                <a:solidFill>
                  <a:srgbClr val="94A3B8"/>
                </a:solidFill>
                <a:latin typeface="Consolas" pitchFamily="34" charset="0"/>
                <a:ea typeface="Consolas" pitchFamily="34" charset="-122"/>
                <a:cs typeface="Consolas" pitchFamily="34" charset="-120"/>
              </a:rPr>
              <a:t>13 Pinterest tools</a:t>
            </a:r>
            <a:endParaRPr lang="en-US" sz="900" dirty="0"/>
          </a:p>
          <a:p>
            <a:pPr indent="0" marL="0">
              <a:buNone/>
            </a:pPr>
            <a:r>
              <a:rPr lang="en-US" sz="900" dirty="0">
                <a:solidFill>
                  <a:srgbClr val="94A3B8"/>
                </a:solidFill>
                <a:latin typeface="Consolas" pitchFamily="34" charset="0"/>
                <a:ea typeface="Consolas" pitchFamily="34" charset="-122"/>
                <a:cs typeface="Consolas" pitchFamily="34" charset="-120"/>
              </a:rPr>
              <a:t>Zero workflow changes</a:t>
            </a:r>
            <a:endParaRPr lang="en-US" sz="900" dirty="0"/>
          </a:p>
        </p:txBody>
      </p:sp>
      <p:sp>
        <p:nvSpPr>
          <p:cNvPr id="21" name="Shape 19"/>
          <p:cNvSpPr/>
          <p:nvPr/>
        </p:nvSpPr>
        <p:spPr>
          <a:xfrm>
            <a:off x="2286000" y="2148840"/>
            <a:ext cx="457200" cy="0"/>
          </a:xfrm>
          <a:prstGeom prst="line">
            <a:avLst/>
          </a:prstGeom>
          <a:noFill/>
          <a:ln w="25400">
            <a:solidFill>
              <a:srgbClr val="64748B"/>
            </a:solidFill>
            <a:prstDash val="solid"/>
          </a:ln>
        </p:spPr>
      </p:sp>
      <p:sp>
        <p:nvSpPr>
          <p:cNvPr id="22" name="Shape 20"/>
          <p:cNvSpPr/>
          <p:nvPr/>
        </p:nvSpPr>
        <p:spPr>
          <a:xfrm>
            <a:off x="4663440" y="2148840"/>
            <a:ext cx="457200" cy="0"/>
          </a:xfrm>
          <a:prstGeom prst="line">
            <a:avLst/>
          </a:prstGeom>
          <a:noFill/>
          <a:ln w="25400">
            <a:solidFill>
              <a:srgbClr val="64748B"/>
            </a:solidFill>
            <a:prstDash val="solid"/>
          </a:ln>
        </p:spPr>
      </p:sp>
      <p:sp>
        <p:nvSpPr>
          <p:cNvPr id="23" name="Shape 21"/>
          <p:cNvSpPr/>
          <p:nvPr/>
        </p:nvSpPr>
        <p:spPr>
          <a:xfrm>
            <a:off x="7040880" y="2148840"/>
            <a:ext cx="457200" cy="0"/>
          </a:xfrm>
          <a:prstGeom prst="line">
            <a:avLst/>
          </a:prstGeom>
          <a:noFill/>
          <a:ln w="25400">
            <a:solidFill>
              <a:srgbClr val="64748B"/>
            </a:solidFill>
            <a:prstDash val="solid"/>
          </a:ln>
        </p:spPr>
      </p:sp>
      <p:sp>
        <p:nvSpPr>
          <p:cNvPr id="24" name="Text 22"/>
          <p:cNvSpPr/>
          <p:nvPr/>
        </p:nvSpPr>
        <p:spPr>
          <a:xfrm>
            <a:off x="731520" y="3017520"/>
            <a:ext cx="73152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Pinterest Tool Registry (pinterest/tools/)</a:t>
            </a:r>
            <a:endParaRPr lang="en-US" sz="1400" dirty="0"/>
          </a:p>
        </p:txBody>
      </p:sp>
      <p:sp>
        <p:nvSpPr>
          <p:cNvPr id="25" name="Shape 23"/>
          <p:cNvSpPr/>
          <p:nvPr/>
        </p:nvSpPr>
        <p:spPr>
          <a:xfrm>
            <a:off x="731520" y="3474720"/>
            <a:ext cx="1508760" cy="347472"/>
          </a:xfrm>
          <a:prstGeom prst="rect">
            <a:avLst/>
          </a:prstGeom>
          <a:solidFill>
            <a:srgbClr val="1E293B"/>
          </a:solidFill>
          <a:ln/>
        </p:spPr>
      </p:sp>
      <p:sp>
        <p:nvSpPr>
          <p:cNvPr id="26" name="Text 24"/>
          <p:cNvSpPr/>
          <p:nvPr/>
        </p:nvSpPr>
        <p:spPr>
          <a:xfrm>
            <a:off x="731520" y="3474720"/>
            <a:ext cx="1508760" cy="347472"/>
          </a:xfrm>
          <a:prstGeom prst="rect">
            <a:avLst/>
          </a:prstGeom>
          <a:noFill/>
          <a:ln/>
        </p:spPr>
        <p:txBody>
          <a:bodyPr wrap="square" lIns="0" tIns="0" rIns="0" bIns="0" rtlCol="0" anchor="ctr"/>
          <a:lstStyle/>
          <a:p>
            <a:pPr algn="ctr" indent="0" marL="0">
              <a:buNone/>
            </a:pPr>
            <a:r>
              <a:rPr lang="en-US" sz="900" dirty="0">
                <a:solidFill>
                  <a:srgbClr val="CBD5E1"/>
                </a:solidFill>
                <a:latin typeface="Consolas" pitchFamily="34" charset="0"/>
                <a:ea typeface="Consolas" pitchFamily="34" charset="-122"/>
                <a:cs typeface="Consolas" pitchFamily="34" charset="-120"/>
              </a:rPr>
              <a:t>create_campaign</a:t>
            </a:r>
            <a:endParaRPr lang="en-US" sz="900" dirty="0"/>
          </a:p>
        </p:txBody>
      </p:sp>
      <p:sp>
        <p:nvSpPr>
          <p:cNvPr id="27" name="Shape 25"/>
          <p:cNvSpPr/>
          <p:nvPr/>
        </p:nvSpPr>
        <p:spPr>
          <a:xfrm>
            <a:off x="2377440" y="3474720"/>
            <a:ext cx="1508760" cy="347472"/>
          </a:xfrm>
          <a:prstGeom prst="rect">
            <a:avLst/>
          </a:prstGeom>
          <a:solidFill>
            <a:srgbClr val="1E293B"/>
          </a:solidFill>
          <a:ln/>
        </p:spPr>
      </p:sp>
      <p:sp>
        <p:nvSpPr>
          <p:cNvPr id="28" name="Text 26"/>
          <p:cNvSpPr/>
          <p:nvPr/>
        </p:nvSpPr>
        <p:spPr>
          <a:xfrm>
            <a:off x="2377440" y="3474720"/>
            <a:ext cx="1508760" cy="347472"/>
          </a:xfrm>
          <a:prstGeom prst="rect">
            <a:avLst/>
          </a:prstGeom>
          <a:noFill/>
          <a:ln/>
        </p:spPr>
        <p:txBody>
          <a:bodyPr wrap="square" lIns="0" tIns="0" rIns="0" bIns="0" rtlCol="0" anchor="ctr"/>
          <a:lstStyle/>
          <a:p>
            <a:pPr algn="ctr" indent="0" marL="0">
              <a:buNone/>
            </a:pPr>
            <a:r>
              <a:rPr lang="en-US" sz="900" dirty="0">
                <a:solidFill>
                  <a:srgbClr val="CBD5E1"/>
                </a:solidFill>
                <a:latin typeface="Consolas" pitchFamily="34" charset="0"/>
                <a:ea typeface="Consolas" pitchFamily="34" charset="-122"/>
                <a:cs typeface="Consolas" pitchFamily="34" charset="-120"/>
              </a:rPr>
              <a:t>create_ad_group</a:t>
            </a:r>
            <a:endParaRPr lang="en-US" sz="900" dirty="0"/>
          </a:p>
        </p:txBody>
      </p:sp>
      <p:sp>
        <p:nvSpPr>
          <p:cNvPr id="29" name="Shape 27"/>
          <p:cNvSpPr/>
          <p:nvPr/>
        </p:nvSpPr>
        <p:spPr>
          <a:xfrm>
            <a:off x="4023360" y="3474720"/>
            <a:ext cx="1508760" cy="347472"/>
          </a:xfrm>
          <a:prstGeom prst="rect">
            <a:avLst/>
          </a:prstGeom>
          <a:solidFill>
            <a:srgbClr val="1E293B"/>
          </a:solidFill>
          <a:ln/>
        </p:spPr>
      </p:sp>
      <p:sp>
        <p:nvSpPr>
          <p:cNvPr id="30" name="Text 28"/>
          <p:cNvSpPr/>
          <p:nvPr/>
        </p:nvSpPr>
        <p:spPr>
          <a:xfrm>
            <a:off x="4023360" y="3474720"/>
            <a:ext cx="1508760" cy="347472"/>
          </a:xfrm>
          <a:prstGeom prst="rect">
            <a:avLst/>
          </a:prstGeom>
          <a:noFill/>
          <a:ln/>
        </p:spPr>
        <p:txBody>
          <a:bodyPr wrap="square" lIns="0" tIns="0" rIns="0" bIns="0" rtlCol="0" anchor="ctr"/>
          <a:lstStyle/>
          <a:p>
            <a:pPr algn="ctr" indent="0" marL="0">
              <a:buNone/>
            </a:pPr>
            <a:r>
              <a:rPr lang="en-US" sz="900" dirty="0">
                <a:solidFill>
                  <a:srgbClr val="CBD5E1"/>
                </a:solidFill>
                <a:latin typeface="Consolas" pitchFamily="34" charset="0"/>
                <a:ea typeface="Consolas" pitchFamily="34" charset="-122"/>
                <a:cs typeface="Consolas" pitchFamily="34" charset="-120"/>
              </a:rPr>
              <a:t>create_pin</a:t>
            </a:r>
            <a:endParaRPr lang="en-US" sz="900" dirty="0"/>
          </a:p>
        </p:txBody>
      </p:sp>
      <p:sp>
        <p:nvSpPr>
          <p:cNvPr id="31" name="Shape 29"/>
          <p:cNvSpPr/>
          <p:nvPr/>
        </p:nvSpPr>
        <p:spPr>
          <a:xfrm>
            <a:off x="5669280" y="3474720"/>
            <a:ext cx="1508760" cy="347472"/>
          </a:xfrm>
          <a:prstGeom prst="rect">
            <a:avLst/>
          </a:prstGeom>
          <a:solidFill>
            <a:srgbClr val="1E293B"/>
          </a:solidFill>
          <a:ln/>
        </p:spPr>
      </p:sp>
      <p:sp>
        <p:nvSpPr>
          <p:cNvPr id="32" name="Text 30"/>
          <p:cNvSpPr/>
          <p:nvPr/>
        </p:nvSpPr>
        <p:spPr>
          <a:xfrm>
            <a:off x="5669280" y="3474720"/>
            <a:ext cx="1508760" cy="347472"/>
          </a:xfrm>
          <a:prstGeom prst="rect">
            <a:avLst/>
          </a:prstGeom>
          <a:noFill/>
          <a:ln/>
        </p:spPr>
        <p:txBody>
          <a:bodyPr wrap="square" lIns="0" tIns="0" rIns="0" bIns="0" rtlCol="0" anchor="ctr"/>
          <a:lstStyle/>
          <a:p>
            <a:pPr algn="ctr" indent="0" marL="0">
              <a:buNone/>
            </a:pPr>
            <a:r>
              <a:rPr lang="en-US" sz="900" dirty="0">
                <a:solidFill>
                  <a:srgbClr val="CBD5E1"/>
                </a:solidFill>
                <a:latin typeface="Consolas" pitchFamily="34" charset="0"/>
                <a:ea typeface="Consolas" pitchFamily="34" charset="-122"/>
                <a:cs typeface="Consolas" pitchFamily="34" charset="-120"/>
              </a:rPr>
              <a:t>create_ad</a:t>
            </a:r>
            <a:endParaRPr lang="en-US" sz="900" dirty="0"/>
          </a:p>
        </p:txBody>
      </p:sp>
      <p:sp>
        <p:nvSpPr>
          <p:cNvPr id="33" name="Shape 31"/>
          <p:cNvSpPr/>
          <p:nvPr/>
        </p:nvSpPr>
        <p:spPr>
          <a:xfrm>
            <a:off x="7315200" y="3474720"/>
            <a:ext cx="1508760" cy="347472"/>
          </a:xfrm>
          <a:prstGeom prst="rect">
            <a:avLst/>
          </a:prstGeom>
          <a:solidFill>
            <a:srgbClr val="1E293B"/>
          </a:solidFill>
          <a:ln/>
        </p:spPr>
      </p:sp>
      <p:sp>
        <p:nvSpPr>
          <p:cNvPr id="34" name="Text 32"/>
          <p:cNvSpPr/>
          <p:nvPr/>
        </p:nvSpPr>
        <p:spPr>
          <a:xfrm>
            <a:off x="7315200" y="3474720"/>
            <a:ext cx="1508760" cy="347472"/>
          </a:xfrm>
          <a:prstGeom prst="rect">
            <a:avLst/>
          </a:prstGeom>
          <a:noFill/>
          <a:ln/>
        </p:spPr>
        <p:txBody>
          <a:bodyPr wrap="square" lIns="0" tIns="0" rIns="0" bIns="0" rtlCol="0" anchor="ctr"/>
          <a:lstStyle/>
          <a:p>
            <a:pPr algn="ctr" indent="0" marL="0">
              <a:buNone/>
            </a:pPr>
            <a:r>
              <a:rPr lang="en-US" sz="900" dirty="0">
                <a:solidFill>
                  <a:srgbClr val="CBD5E1"/>
                </a:solidFill>
                <a:latin typeface="Consolas" pitchFamily="34" charset="0"/>
                <a:ea typeface="Consolas" pitchFamily="34" charset="-122"/>
                <a:cs typeface="Consolas" pitchFamily="34" charset="-120"/>
              </a:rPr>
              <a:t>pull_analytics</a:t>
            </a:r>
            <a:endParaRPr lang="en-US" sz="900" dirty="0"/>
          </a:p>
        </p:txBody>
      </p:sp>
      <p:sp>
        <p:nvSpPr>
          <p:cNvPr id="35" name="Shape 33"/>
          <p:cNvSpPr/>
          <p:nvPr/>
        </p:nvSpPr>
        <p:spPr>
          <a:xfrm>
            <a:off x="731520" y="3931920"/>
            <a:ext cx="1508760" cy="347472"/>
          </a:xfrm>
          <a:prstGeom prst="rect">
            <a:avLst/>
          </a:prstGeom>
          <a:solidFill>
            <a:srgbClr val="1E293B"/>
          </a:solidFill>
          <a:ln/>
        </p:spPr>
      </p:sp>
      <p:sp>
        <p:nvSpPr>
          <p:cNvPr id="36" name="Text 34"/>
          <p:cNvSpPr/>
          <p:nvPr/>
        </p:nvSpPr>
        <p:spPr>
          <a:xfrm>
            <a:off x="731520" y="3931920"/>
            <a:ext cx="1508760" cy="347472"/>
          </a:xfrm>
          <a:prstGeom prst="rect">
            <a:avLst/>
          </a:prstGeom>
          <a:noFill/>
          <a:ln/>
        </p:spPr>
        <p:txBody>
          <a:bodyPr wrap="square" lIns="0" tIns="0" rIns="0" bIns="0" rtlCol="0" anchor="ctr"/>
          <a:lstStyle/>
          <a:p>
            <a:pPr algn="ctr" indent="0" marL="0">
              <a:buNone/>
            </a:pPr>
            <a:r>
              <a:rPr lang="en-US" sz="900" dirty="0">
                <a:solidFill>
                  <a:srgbClr val="CBD5E1"/>
                </a:solidFill>
                <a:latin typeface="Consolas" pitchFamily="34" charset="0"/>
                <a:ea typeface="Consolas" pitchFamily="34" charset="-122"/>
                <a:cs typeface="Consolas" pitchFamily="34" charset="-120"/>
              </a:rPr>
              <a:t>check_review_status</a:t>
            </a:r>
            <a:endParaRPr lang="en-US" sz="900" dirty="0"/>
          </a:p>
        </p:txBody>
      </p:sp>
      <p:sp>
        <p:nvSpPr>
          <p:cNvPr id="37" name="Shape 35"/>
          <p:cNvSpPr/>
          <p:nvPr/>
        </p:nvSpPr>
        <p:spPr>
          <a:xfrm>
            <a:off x="2377440" y="3931920"/>
            <a:ext cx="1508760" cy="347472"/>
          </a:xfrm>
          <a:prstGeom prst="rect">
            <a:avLst/>
          </a:prstGeom>
          <a:solidFill>
            <a:srgbClr val="1E293B"/>
          </a:solidFill>
          <a:ln/>
        </p:spPr>
      </p:sp>
      <p:sp>
        <p:nvSpPr>
          <p:cNvPr id="38" name="Text 36"/>
          <p:cNvSpPr/>
          <p:nvPr/>
        </p:nvSpPr>
        <p:spPr>
          <a:xfrm>
            <a:off x="2377440" y="3931920"/>
            <a:ext cx="1508760" cy="347472"/>
          </a:xfrm>
          <a:prstGeom prst="rect">
            <a:avLst/>
          </a:prstGeom>
          <a:noFill/>
          <a:ln/>
        </p:spPr>
        <p:txBody>
          <a:bodyPr wrap="square" lIns="0" tIns="0" rIns="0" bIns="0" rtlCol="0" anchor="ctr"/>
          <a:lstStyle/>
          <a:p>
            <a:pPr algn="ctr" indent="0" marL="0">
              <a:buNone/>
            </a:pPr>
            <a:r>
              <a:rPr lang="en-US" sz="900" dirty="0">
                <a:solidFill>
                  <a:srgbClr val="CBD5E1"/>
                </a:solidFill>
                <a:latin typeface="Consolas" pitchFamily="34" charset="0"/>
                <a:ea typeface="Consolas" pitchFamily="34" charset="-122"/>
                <a:cs typeface="Consolas" pitchFamily="34" charset="-120"/>
              </a:rPr>
              <a:t>update_budget</a:t>
            </a:r>
            <a:endParaRPr lang="en-US" sz="900" dirty="0"/>
          </a:p>
        </p:txBody>
      </p:sp>
      <p:sp>
        <p:nvSpPr>
          <p:cNvPr id="39" name="Shape 37"/>
          <p:cNvSpPr/>
          <p:nvPr/>
        </p:nvSpPr>
        <p:spPr>
          <a:xfrm>
            <a:off x="4023360" y="3931920"/>
            <a:ext cx="1508760" cy="347472"/>
          </a:xfrm>
          <a:prstGeom prst="rect">
            <a:avLst/>
          </a:prstGeom>
          <a:solidFill>
            <a:srgbClr val="1E293B"/>
          </a:solidFill>
          <a:ln/>
        </p:spPr>
      </p:sp>
      <p:sp>
        <p:nvSpPr>
          <p:cNvPr id="40" name="Text 38"/>
          <p:cNvSpPr/>
          <p:nvPr/>
        </p:nvSpPr>
        <p:spPr>
          <a:xfrm>
            <a:off x="4023360" y="3931920"/>
            <a:ext cx="1508760" cy="347472"/>
          </a:xfrm>
          <a:prstGeom prst="rect">
            <a:avLst/>
          </a:prstGeom>
          <a:noFill/>
          <a:ln/>
        </p:spPr>
        <p:txBody>
          <a:bodyPr wrap="square" lIns="0" tIns="0" rIns="0" bIns="0" rtlCol="0" anchor="ctr"/>
          <a:lstStyle/>
          <a:p>
            <a:pPr algn="ctr" indent="0" marL="0">
              <a:buNone/>
            </a:pPr>
            <a:r>
              <a:rPr lang="en-US" sz="900" dirty="0">
                <a:solidFill>
                  <a:srgbClr val="CBD5E1"/>
                </a:solidFill>
                <a:latin typeface="Consolas" pitchFamily="34" charset="0"/>
                <a:ea typeface="Consolas" pitchFamily="34" charset="-122"/>
                <a:cs typeface="Consolas" pitchFamily="34" charset="-120"/>
              </a:rPr>
              <a:t>update_ad_status</a:t>
            </a:r>
            <a:endParaRPr lang="en-US" sz="900" dirty="0"/>
          </a:p>
        </p:txBody>
      </p:sp>
      <p:sp>
        <p:nvSpPr>
          <p:cNvPr id="41" name="Shape 39"/>
          <p:cNvSpPr/>
          <p:nvPr/>
        </p:nvSpPr>
        <p:spPr>
          <a:xfrm>
            <a:off x="5669280" y="3931920"/>
            <a:ext cx="1508760" cy="347472"/>
          </a:xfrm>
          <a:prstGeom prst="rect">
            <a:avLst/>
          </a:prstGeom>
          <a:solidFill>
            <a:srgbClr val="1E293B"/>
          </a:solidFill>
          <a:ln/>
        </p:spPr>
      </p:sp>
      <p:sp>
        <p:nvSpPr>
          <p:cNvPr id="42" name="Text 40"/>
          <p:cNvSpPr/>
          <p:nvPr/>
        </p:nvSpPr>
        <p:spPr>
          <a:xfrm>
            <a:off x="5669280" y="3931920"/>
            <a:ext cx="1508760" cy="347472"/>
          </a:xfrm>
          <a:prstGeom prst="rect">
            <a:avLst/>
          </a:prstGeom>
          <a:noFill/>
          <a:ln/>
        </p:spPr>
        <p:txBody>
          <a:bodyPr wrap="square" lIns="0" tIns="0" rIns="0" bIns="0" rtlCol="0" anchor="ctr"/>
          <a:lstStyle/>
          <a:p>
            <a:pPr algn="ctr" indent="0" marL="0">
              <a:buNone/>
            </a:pPr>
            <a:r>
              <a:rPr lang="en-US" sz="900" dirty="0">
                <a:solidFill>
                  <a:srgbClr val="CBD5E1"/>
                </a:solidFill>
                <a:latin typeface="Consolas" pitchFamily="34" charset="0"/>
                <a:ea typeface="Consolas" pitchFamily="34" charset="-122"/>
                <a:cs typeface="Consolas" pitchFamily="34" charset="-120"/>
              </a:rPr>
              <a:t>update_targeting</a:t>
            </a:r>
            <a:endParaRPr lang="en-US" sz="900" dirty="0"/>
          </a:p>
        </p:txBody>
      </p:sp>
      <p:sp>
        <p:nvSpPr>
          <p:cNvPr id="43" name="Shape 41"/>
          <p:cNvSpPr/>
          <p:nvPr/>
        </p:nvSpPr>
        <p:spPr>
          <a:xfrm>
            <a:off x="7315200" y="3931920"/>
            <a:ext cx="1508760" cy="347472"/>
          </a:xfrm>
          <a:prstGeom prst="rect">
            <a:avLst/>
          </a:prstGeom>
          <a:solidFill>
            <a:srgbClr val="1E293B"/>
          </a:solidFill>
          <a:ln/>
        </p:spPr>
      </p:sp>
      <p:sp>
        <p:nvSpPr>
          <p:cNvPr id="44" name="Text 42"/>
          <p:cNvSpPr/>
          <p:nvPr/>
        </p:nvSpPr>
        <p:spPr>
          <a:xfrm>
            <a:off x="7315200" y="3931920"/>
            <a:ext cx="1508760" cy="347472"/>
          </a:xfrm>
          <a:prstGeom prst="rect">
            <a:avLst/>
          </a:prstGeom>
          <a:noFill/>
          <a:ln/>
        </p:spPr>
        <p:txBody>
          <a:bodyPr wrap="square" lIns="0" tIns="0" rIns="0" bIns="0" rtlCol="0" anchor="ctr"/>
          <a:lstStyle/>
          <a:p>
            <a:pPr algn="ctr" indent="0" marL="0">
              <a:buNone/>
            </a:pPr>
            <a:r>
              <a:rPr lang="en-US" sz="900" dirty="0">
                <a:solidFill>
                  <a:srgbClr val="CBD5E1"/>
                </a:solidFill>
                <a:latin typeface="Consolas" pitchFamily="34" charset="0"/>
                <a:ea typeface="Consolas" pitchFamily="34" charset="-122"/>
                <a:cs typeface="Consolas" pitchFamily="34" charset="-120"/>
              </a:rPr>
              <a:t>suspend_ad_group</a:t>
            </a:r>
            <a:endParaRPr lang="en-US" sz="900" dirty="0"/>
          </a:p>
        </p:txBody>
      </p:sp>
      <p:sp>
        <p:nvSpPr>
          <p:cNvPr id="45" name="Shape 43"/>
          <p:cNvSpPr/>
          <p:nvPr/>
        </p:nvSpPr>
        <p:spPr>
          <a:xfrm>
            <a:off x="731520" y="4389120"/>
            <a:ext cx="1508760" cy="347472"/>
          </a:xfrm>
          <a:prstGeom prst="rect">
            <a:avLst/>
          </a:prstGeom>
          <a:solidFill>
            <a:srgbClr val="1E293B"/>
          </a:solidFill>
          <a:ln/>
        </p:spPr>
      </p:sp>
      <p:sp>
        <p:nvSpPr>
          <p:cNvPr id="46" name="Text 44"/>
          <p:cNvSpPr/>
          <p:nvPr/>
        </p:nvSpPr>
        <p:spPr>
          <a:xfrm>
            <a:off x="731520" y="4389120"/>
            <a:ext cx="1508760" cy="347472"/>
          </a:xfrm>
          <a:prstGeom prst="rect">
            <a:avLst/>
          </a:prstGeom>
          <a:noFill/>
          <a:ln/>
        </p:spPr>
        <p:txBody>
          <a:bodyPr wrap="square" lIns="0" tIns="0" rIns="0" bIns="0" rtlCol="0" anchor="ctr"/>
          <a:lstStyle/>
          <a:p>
            <a:pPr algn="ctr" indent="0" marL="0">
              <a:buNone/>
            </a:pPr>
            <a:r>
              <a:rPr lang="en-US" sz="900" dirty="0">
                <a:solidFill>
                  <a:srgbClr val="CBD5E1"/>
                </a:solidFill>
                <a:latin typeface="Consolas" pitchFamily="34" charset="0"/>
                <a:ea typeface="Consolas" pitchFamily="34" charset="-122"/>
                <a:cs typeface="Consolas" pitchFamily="34" charset="-120"/>
              </a:rPr>
              <a:t>adjust_bid_strategy</a:t>
            </a:r>
            <a:endParaRPr lang="en-US" sz="900" dirty="0"/>
          </a:p>
        </p:txBody>
      </p:sp>
      <p:sp>
        <p:nvSpPr>
          <p:cNvPr id="47" name="Shape 45"/>
          <p:cNvSpPr/>
          <p:nvPr/>
        </p:nvSpPr>
        <p:spPr>
          <a:xfrm>
            <a:off x="2377440" y="4389120"/>
            <a:ext cx="1508760" cy="347472"/>
          </a:xfrm>
          <a:prstGeom prst="rect">
            <a:avLst/>
          </a:prstGeom>
          <a:solidFill>
            <a:srgbClr val="1E293B"/>
          </a:solidFill>
          <a:ln/>
        </p:spPr>
      </p:sp>
      <p:sp>
        <p:nvSpPr>
          <p:cNvPr id="48" name="Text 46"/>
          <p:cNvSpPr/>
          <p:nvPr/>
        </p:nvSpPr>
        <p:spPr>
          <a:xfrm>
            <a:off x="2377440" y="4389120"/>
            <a:ext cx="1508760" cy="347472"/>
          </a:xfrm>
          <a:prstGeom prst="rect">
            <a:avLst/>
          </a:prstGeom>
          <a:noFill/>
          <a:ln/>
        </p:spPr>
        <p:txBody>
          <a:bodyPr wrap="square" lIns="0" tIns="0" rIns="0" bIns="0" rtlCol="0" anchor="ctr"/>
          <a:lstStyle/>
          <a:p>
            <a:pPr algn="ctr" indent="0" marL="0">
              <a:buNone/>
            </a:pPr>
            <a:r>
              <a:rPr lang="en-US" sz="900" dirty="0">
                <a:solidFill>
                  <a:srgbClr val="CBD5E1"/>
                </a:solidFill>
                <a:latin typeface="Consolas" pitchFamily="34" charset="0"/>
                <a:ea typeface="Consolas" pitchFamily="34" charset="-122"/>
                <a:cs typeface="Consolas" pitchFamily="34" charset="-120"/>
              </a:rPr>
              <a:t>generate_creatives</a:t>
            </a:r>
            <a:endParaRPr lang="en-US" sz="900" dirty="0"/>
          </a:p>
        </p:txBody>
      </p:sp>
      <p:sp>
        <p:nvSpPr>
          <p:cNvPr id="49" name="Shape 47"/>
          <p:cNvSpPr/>
          <p:nvPr/>
        </p:nvSpPr>
        <p:spPr>
          <a:xfrm>
            <a:off x="4023360" y="4389120"/>
            <a:ext cx="1508760" cy="347472"/>
          </a:xfrm>
          <a:prstGeom prst="rect">
            <a:avLst/>
          </a:prstGeom>
          <a:solidFill>
            <a:srgbClr val="1E293B"/>
          </a:solidFill>
          <a:ln/>
        </p:spPr>
      </p:sp>
      <p:sp>
        <p:nvSpPr>
          <p:cNvPr id="50" name="Text 48"/>
          <p:cNvSpPr/>
          <p:nvPr/>
        </p:nvSpPr>
        <p:spPr>
          <a:xfrm>
            <a:off x="4023360" y="4389120"/>
            <a:ext cx="1508760" cy="347472"/>
          </a:xfrm>
          <a:prstGeom prst="rect">
            <a:avLst/>
          </a:prstGeom>
          <a:noFill/>
          <a:ln/>
        </p:spPr>
        <p:txBody>
          <a:bodyPr wrap="square" lIns="0" tIns="0" rIns="0" bIns="0" rtlCol="0" anchor="ctr"/>
          <a:lstStyle/>
          <a:p>
            <a:pPr algn="ctr" indent="0" marL="0">
              <a:buNone/>
            </a:pPr>
            <a:r>
              <a:rPr lang="en-US" sz="900" dirty="0">
                <a:solidFill>
                  <a:srgbClr val="CBD5E1"/>
                </a:solidFill>
                <a:latin typeface="Consolas" pitchFamily="34" charset="0"/>
                <a:ea typeface="Consolas" pitchFamily="34" charset="-122"/>
                <a:cs typeface="Consolas" pitchFamily="34" charset="-120"/>
              </a:rPr>
              <a:t>send_notification</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Text 1"/>
          <p:cNvSpPr/>
          <p:nvPr/>
        </p:nvSpPr>
        <p:spPr>
          <a:xfrm>
            <a:off x="731520" y="274320"/>
            <a:ext cx="8229600" cy="54864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Key Patterns in Code</a:t>
            </a:r>
            <a:endParaRPr lang="en-US" sz="2800" dirty="0"/>
          </a:p>
        </p:txBody>
      </p:sp>
      <p:sp>
        <p:nvSpPr>
          <p:cNvPr id="4" name="Shape 2"/>
          <p:cNvSpPr/>
          <p:nvPr/>
        </p:nvSpPr>
        <p:spPr>
          <a:xfrm>
            <a:off x="457200" y="1005840"/>
            <a:ext cx="8229600" cy="1188720"/>
          </a:xfrm>
          <a:prstGeom prst="rect">
            <a:avLst/>
          </a:prstGeom>
          <a:solidFill>
            <a:srgbClr val="1E293B"/>
          </a:solidFill>
          <a:ln/>
        </p:spPr>
      </p:sp>
      <p:sp>
        <p:nvSpPr>
          <p:cNvPr id="5" name="Shape 3"/>
          <p:cNvSpPr/>
          <p:nvPr/>
        </p:nvSpPr>
        <p:spPr>
          <a:xfrm>
            <a:off x="457200" y="1005840"/>
            <a:ext cx="54864" cy="1188720"/>
          </a:xfrm>
          <a:prstGeom prst="rect">
            <a:avLst/>
          </a:prstGeom>
          <a:solidFill>
            <a:srgbClr val="3B82F6"/>
          </a:solidFill>
          <a:ln/>
        </p:spPr>
      </p:sp>
      <p:sp>
        <p:nvSpPr>
          <p:cNvPr id="6" name="Text 4"/>
          <p:cNvSpPr/>
          <p:nvPr/>
        </p:nvSpPr>
        <p:spPr>
          <a:xfrm>
            <a:off x="731520" y="1051560"/>
            <a:ext cx="27432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Dynamic Activities</a:t>
            </a:r>
            <a:endParaRPr lang="en-US" sz="1300" dirty="0"/>
          </a:p>
        </p:txBody>
      </p:sp>
      <p:sp>
        <p:nvSpPr>
          <p:cNvPr id="7" name="Text 5"/>
          <p:cNvSpPr/>
          <p:nvPr/>
        </p:nvSpPr>
        <p:spPr>
          <a:xfrm>
            <a:off x="731520" y="1280160"/>
            <a:ext cx="2743200" cy="228600"/>
          </a:xfrm>
          <a:prstGeom prst="rect">
            <a:avLst/>
          </a:prstGeom>
          <a:noFill/>
          <a:ln/>
        </p:spPr>
        <p:txBody>
          <a:bodyPr wrap="square" lIns="0" tIns="0" rIns="0" bIns="0" rtlCol="0" anchor="ctr"/>
          <a:lstStyle/>
          <a:p>
            <a:pPr indent="0" marL="0">
              <a:buNone/>
            </a:pPr>
            <a:r>
              <a:rPr lang="en-US" sz="1000" dirty="0">
                <a:solidFill>
                  <a:srgbClr val="3B82F6"/>
                </a:solidFill>
                <a:latin typeface="Consolas" pitchFamily="34" charset="0"/>
                <a:ea typeface="Consolas" pitchFamily="34" charset="-122"/>
                <a:cs typeface="Consolas" pitchFamily="34" charset="-120"/>
              </a:rPr>
              <a:t>agent/activities.py</a:t>
            </a:r>
            <a:endParaRPr lang="en-US" sz="1000" dirty="0"/>
          </a:p>
        </p:txBody>
      </p:sp>
      <p:sp>
        <p:nvSpPr>
          <p:cNvPr id="8" name="Text 6"/>
          <p:cNvSpPr/>
          <p:nvPr/>
        </p:nvSpPr>
        <p:spPr>
          <a:xfrm>
            <a:off x="731520" y="1508760"/>
            <a:ext cx="3200400" cy="59436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Tools dispatched by name at runtime. Add tools without changing the workflow.</a:t>
            </a:r>
            <a:endParaRPr lang="en-US" sz="1000" dirty="0"/>
          </a:p>
        </p:txBody>
      </p:sp>
      <p:sp>
        <p:nvSpPr>
          <p:cNvPr id="9" name="Shape 7"/>
          <p:cNvSpPr/>
          <p:nvPr/>
        </p:nvSpPr>
        <p:spPr>
          <a:xfrm>
            <a:off x="4206240" y="1078992"/>
            <a:ext cx="4297680" cy="1051560"/>
          </a:xfrm>
          <a:prstGeom prst="rect">
            <a:avLst/>
          </a:prstGeom>
          <a:solidFill>
            <a:srgbClr val="0D1117"/>
          </a:solidFill>
          <a:ln/>
        </p:spPr>
      </p:sp>
      <p:sp>
        <p:nvSpPr>
          <p:cNvPr id="10" name="Text 8"/>
          <p:cNvSpPr/>
          <p:nvPr/>
        </p:nvSpPr>
        <p:spPr>
          <a:xfrm>
            <a:off x="4343400" y="1115568"/>
            <a:ext cx="4023360" cy="960120"/>
          </a:xfrm>
          <a:prstGeom prst="rect">
            <a:avLst/>
          </a:prstGeom>
          <a:noFill/>
          <a:ln/>
        </p:spPr>
        <p:txBody>
          <a:bodyPr wrap="square" lIns="0" tIns="0" rIns="0" bIns="0" rtlCol="0" anchor="ctr"/>
          <a:lstStyle/>
          <a:p>
            <a:pPr indent="0" marL="0">
              <a:buNone/>
            </a:pPr>
            <a:r>
              <a:rPr lang="en-US" sz="850" dirty="0">
                <a:solidFill>
                  <a:srgbClr val="CBD5E1"/>
                </a:solidFill>
                <a:latin typeface="Consolas" pitchFamily="34" charset="0"/>
                <a:ea typeface="Consolas" pitchFamily="34" charset="-122"/>
                <a:cs typeface="Consolas" pitchFamily="34" charset="-120"/>
              </a:rPr>
              <a:t>@activity.defn(dynamic=True)</a:t>
            </a: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async def dynamic_tool_activity(args):</a:t>
            </a: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    tool_name = activity.info().activity_type</a:t>
            </a: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    handler = get_handler(tool_name)</a:t>
            </a: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    return await handler(**tool_args)</a:t>
            </a:r>
            <a:endParaRPr lang="en-US" sz="850" dirty="0"/>
          </a:p>
        </p:txBody>
      </p:sp>
      <p:sp>
        <p:nvSpPr>
          <p:cNvPr id="11" name="Shape 9"/>
          <p:cNvSpPr/>
          <p:nvPr/>
        </p:nvSpPr>
        <p:spPr>
          <a:xfrm>
            <a:off x="457200" y="2331720"/>
            <a:ext cx="8229600" cy="1188720"/>
          </a:xfrm>
          <a:prstGeom prst="rect">
            <a:avLst/>
          </a:prstGeom>
          <a:solidFill>
            <a:srgbClr val="1E293B"/>
          </a:solidFill>
          <a:ln/>
        </p:spPr>
      </p:sp>
      <p:sp>
        <p:nvSpPr>
          <p:cNvPr id="12" name="Shape 10"/>
          <p:cNvSpPr/>
          <p:nvPr/>
        </p:nvSpPr>
        <p:spPr>
          <a:xfrm>
            <a:off x="457200" y="2331720"/>
            <a:ext cx="54864" cy="1188720"/>
          </a:xfrm>
          <a:prstGeom prst="rect">
            <a:avLst/>
          </a:prstGeom>
          <a:solidFill>
            <a:srgbClr val="3B82F6"/>
          </a:solidFill>
          <a:ln/>
        </p:spPr>
      </p:sp>
      <p:sp>
        <p:nvSpPr>
          <p:cNvPr id="13" name="Text 11"/>
          <p:cNvSpPr/>
          <p:nvPr/>
        </p:nvSpPr>
        <p:spPr>
          <a:xfrm>
            <a:off x="731520" y="2377440"/>
            <a:ext cx="27432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HITL via Signals</a:t>
            </a:r>
            <a:endParaRPr lang="en-US" sz="1300" dirty="0"/>
          </a:p>
        </p:txBody>
      </p:sp>
      <p:sp>
        <p:nvSpPr>
          <p:cNvPr id="14" name="Text 12"/>
          <p:cNvSpPr/>
          <p:nvPr/>
        </p:nvSpPr>
        <p:spPr>
          <a:xfrm>
            <a:off x="731520" y="2606040"/>
            <a:ext cx="2743200" cy="228600"/>
          </a:xfrm>
          <a:prstGeom prst="rect">
            <a:avLst/>
          </a:prstGeom>
          <a:noFill/>
          <a:ln/>
        </p:spPr>
        <p:txBody>
          <a:bodyPr wrap="square" lIns="0" tIns="0" rIns="0" bIns="0" rtlCol="0" anchor="ctr"/>
          <a:lstStyle/>
          <a:p>
            <a:pPr indent="0" marL="0">
              <a:buNone/>
            </a:pPr>
            <a:r>
              <a:rPr lang="en-US" sz="1000" dirty="0">
                <a:solidFill>
                  <a:srgbClr val="3B82F6"/>
                </a:solidFill>
                <a:latin typeface="Consolas" pitchFamily="34" charset="0"/>
                <a:ea typeface="Consolas" pitchFamily="34" charset="-122"/>
                <a:cs typeface="Consolas" pitchFamily="34" charset="-120"/>
              </a:rPr>
              <a:t>agent/workflow.py</a:t>
            </a:r>
            <a:endParaRPr lang="en-US" sz="1000" dirty="0"/>
          </a:p>
        </p:txBody>
      </p:sp>
      <p:sp>
        <p:nvSpPr>
          <p:cNvPr id="15" name="Text 13"/>
          <p:cNvSpPr/>
          <p:nvPr/>
        </p:nvSpPr>
        <p:spPr>
          <a:xfrm>
            <a:off x="731520" y="2834640"/>
            <a:ext cx="3200400" cy="59436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Workflow suspends — no polling, no compute. Signal wakes it instantly.</a:t>
            </a:r>
            <a:endParaRPr lang="en-US" sz="1000" dirty="0"/>
          </a:p>
        </p:txBody>
      </p:sp>
      <p:sp>
        <p:nvSpPr>
          <p:cNvPr id="16" name="Shape 14"/>
          <p:cNvSpPr/>
          <p:nvPr/>
        </p:nvSpPr>
        <p:spPr>
          <a:xfrm>
            <a:off x="4206240" y="2404872"/>
            <a:ext cx="4297680" cy="1051560"/>
          </a:xfrm>
          <a:prstGeom prst="rect">
            <a:avLst/>
          </a:prstGeom>
          <a:solidFill>
            <a:srgbClr val="0D1117"/>
          </a:solidFill>
          <a:ln/>
        </p:spPr>
      </p:sp>
      <p:sp>
        <p:nvSpPr>
          <p:cNvPr id="17" name="Text 15"/>
          <p:cNvSpPr/>
          <p:nvPr/>
        </p:nvSpPr>
        <p:spPr>
          <a:xfrm>
            <a:off x="4343400" y="2441448"/>
            <a:ext cx="4023360" cy="960120"/>
          </a:xfrm>
          <a:prstGeom prst="rect">
            <a:avLst/>
          </a:prstGeom>
          <a:noFill/>
          <a:ln/>
        </p:spPr>
        <p:txBody>
          <a:bodyPr wrap="square" lIns="0" tIns="0" rIns="0" bIns="0" rtlCol="0" anchor="ctr"/>
          <a:lstStyle/>
          <a:p>
            <a:pPr indent="0" marL="0">
              <a:buNone/>
            </a:pPr>
            <a:r>
              <a:rPr lang="en-US" sz="850" dirty="0">
                <a:solidFill>
                  <a:srgbClr val="CBD5E1"/>
                </a:solidFill>
                <a:latin typeface="Consolas" pitchFamily="34" charset="0"/>
                <a:ea typeface="Consolas" pitchFamily="34" charset="-122"/>
                <a:cs typeface="Consolas" pitchFamily="34" charset="-120"/>
              </a:rPr>
              <a:t>@workflow.signal</a:t>
            </a: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async def confirm(self):</a:t>
            </a: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    self._confirmed = True</a:t>
            </a:r>
            <a:endParaRPr lang="en-US" sz="850" dirty="0"/>
          </a:p>
          <a:p>
            <a:pPr indent="0" marL="0">
              <a:buNone/>
            </a:pP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await workflow.wait_condition(</a:t>
            </a: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    lambda: self._confirmed is not None,</a:t>
            </a: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    timeout=timedelta(hours=4))</a:t>
            </a:r>
            <a:endParaRPr lang="en-US" sz="850" dirty="0"/>
          </a:p>
        </p:txBody>
      </p:sp>
      <p:sp>
        <p:nvSpPr>
          <p:cNvPr id="18" name="Shape 16"/>
          <p:cNvSpPr/>
          <p:nvPr/>
        </p:nvSpPr>
        <p:spPr>
          <a:xfrm>
            <a:off x="457200" y="3657600"/>
            <a:ext cx="8229600" cy="1188720"/>
          </a:xfrm>
          <a:prstGeom prst="rect">
            <a:avLst/>
          </a:prstGeom>
          <a:solidFill>
            <a:srgbClr val="1E293B"/>
          </a:solidFill>
          <a:ln/>
        </p:spPr>
      </p:sp>
      <p:sp>
        <p:nvSpPr>
          <p:cNvPr id="19" name="Shape 17"/>
          <p:cNvSpPr/>
          <p:nvPr/>
        </p:nvSpPr>
        <p:spPr>
          <a:xfrm>
            <a:off x="457200" y="3657600"/>
            <a:ext cx="54864" cy="1188720"/>
          </a:xfrm>
          <a:prstGeom prst="rect">
            <a:avLst/>
          </a:prstGeom>
          <a:solidFill>
            <a:srgbClr val="3B82F6"/>
          </a:solidFill>
          <a:ln/>
        </p:spPr>
      </p:sp>
      <p:sp>
        <p:nvSpPr>
          <p:cNvPr id="20" name="Text 18"/>
          <p:cNvSpPr/>
          <p:nvPr/>
        </p:nvSpPr>
        <p:spPr>
          <a:xfrm>
            <a:off x="731520" y="3703320"/>
            <a:ext cx="27432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Parallel Tool Execution</a:t>
            </a:r>
            <a:endParaRPr lang="en-US" sz="1300" dirty="0"/>
          </a:p>
        </p:txBody>
      </p:sp>
      <p:sp>
        <p:nvSpPr>
          <p:cNvPr id="21" name="Text 19"/>
          <p:cNvSpPr/>
          <p:nvPr/>
        </p:nvSpPr>
        <p:spPr>
          <a:xfrm>
            <a:off x="731520" y="3931920"/>
            <a:ext cx="2743200" cy="228600"/>
          </a:xfrm>
          <a:prstGeom prst="rect">
            <a:avLst/>
          </a:prstGeom>
          <a:noFill/>
          <a:ln/>
        </p:spPr>
        <p:txBody>
          <a:bodyPr wrap="square" lIns="0" tIns="0" rIns="0" bIns="0" rtlCol="0" anchor="ctr"/>
          <a:lstStyle/>
          <a:p>
            <a:pPr indent="0" marL="0">
              <a:buNone/>
            </a:pPr>
            <a:r>
              <a:rPr lang="en-US" sz="1000" dirty="0">
                <a:solidFill>
                  <a:srgbClr val="3B82F6"/>
                </a:solidFill>
                <a:latin typeface="Consolas" pitchFamily="34" charset="0"/>
                <a:ea typeface="Consolas" pitchFamily="34" charset="-122"/>
                <a:cs typeface="Consolas" pitchFamily="34" charset="-120"/>
              </a:rPr>
              <a:t>agent/workflow.py</a:t>
            </a:r>
            <a:endParaRPr lang="en-US" sz="1000" dirty="0"/>
          </a:p>
        </p:txBody>
      </p:sp>
      <p:sp>
        <p:nvSpPr>
          <p:cNvPr id="22" name="Text 20"/>
          <p:cNvSpPr/>
          <p:nvPr/>
        </p:nvSpPr>
        <p:spPr>
          <a:xfrm>
            <a:off x="731520" y="4160520"/>
            <a:ext cx="3200400" cy="59436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Claude batches independent calls. 4 pins created concurrently.</a:t>
            </a:r>
            <a:endParaRPr lang="en-US" sz="1000" dirty="0"/>
          </a:p>
        </p:txBody>
      </p:sp>
      <p:sp>
        <p:nvSpPr>
          <p:cNvPr id="23" name="Shape 21"/>
          <p:cNvSpPr/>
          <p:nvPr/>
        </p:nvSpPr>
        <p:spPr>
          <a:xfrm>
            <a:off x="4206240" y="3730752"/>
            <a:ext cx="4297680" cy="1051560"/>
          </a:xfrm>
          <a:prstGeom prst="rect">
            <a:avLst/>
          </a:prstGeom>
          <a:solidFill>
            <a:srgbClr val="0D1117"/>
          </a:solidFill>
          <a:ln/>
        </p:spPr>
      </p:sp>
      <p:sp>
        <p:nvSpPr>
          <p:cNvPr id="24" name="Text 22"/>
          <p:cNvSpPr/>
          <p:nvPr/>
        </p:nvSpPr>
        <p:spPr>
          <a:xfrm>
            <a:off x="4343400" y="3767328"/>
            <a:ext cx="4023360" cy="960120"/>
          </a:xfrm>
          <a:prstGeom prst="rect">
            <a:avLst/>
          </a:prstGeom>
          <a:noFill/>
          <a:ln/>
        </p:spPr>
        <p:txBody>
          <a:bodyPr wrap="square" lIns="0" tIns="0" rIns="0" bIns="0" rtlCol="0" anchor="ctr"/>
          <a:lstStyle/>
          <a:p>
            <a:pPr indent="0" marL="0">
              <a:buNone/>
            </a:pPr>
            <a:r>
              <a:rPr lang="en-US" sz="850" dirty="0">
                <a:solidFill>
                  <a:srgbClr val="CBD5E1"/>
                </a:solidFill>
                <a:latin typeface="Consolas" pitchFamily="34" charset="0"/>
                <a:ea typeface="Consolas" pitchFamily="34" charset="-122"/>
                <a:cs typeface="Consolas" pitchFamily="34" charset="-120"/>
              </a:rPr>
              <a:t># LLM returns 4 create_pin calls</a:t>
            </a: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results = await asyncio.gather(</a:t>
            </a: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    *[execute_one(tc) for tc in tool_calls]</a:t>
            </a: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Text 1"/>
          <p:cNvSpPr/>
          <p:nvPr/>
        </p:nvSpPr>
        <p:spPr>
          <a:xfrm>
            <a:off x="731520" y="274320"/>
            <a:ext cx="8229600" cy="54864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Production Patterns</a:t>
            </a:r>
            <a:endParaRPr lang="en-US" sz="2800" dirty="0"/>
          </a:p>
        </p:txBody>
      </p:sp>
      <p:sp>
        <p:nvSpPr>
          <p:cNvPr id="4" name="Shape 2"/>
          <p:cNvSpPr/>
          <p:nvPr/>
        </p:nvSpPr>
        <p:spPr>
          <a:xfrm>
            <a:off x="457200" y="960120"/>
            <a:ext cx="8229600" cy="868680"/>
          </a:xfrm>
          <a:prstGeom prst="rect">
            <a:avLst/>
          </a:prstGeom>
          <a:solidFill>
            <a:srgbClr val="1E293B"/>
          </a:solidFill>
          <a:ln/>
        </p:spPr>
      </p:sp>
      <p:sp>
        <p:nvSpPr>
          <p:cNvPr id="5" name="Shape 3"/>
          <p:cNvSpPr/>
          <p:nvPr/>
        </p:nvSpPr>
        <p:spPr>
          <a:xfrm>
            <a:off x="457200" y="960120"/>
            <a:ext cx="54864" cy="868680"/>
          </a:xfrm>
          <a:prstGeom prst="rect">
            <a:avLst/>
          </a:prstGeom>
          <a:solidFill>
            <a:srgbClr val="22C55E"/>
          </a:solidFill>
          <a:ln/>
        </p:spPr>
      </p:sp>
      <p:sp>
        <p:nvSpPr>
          <p:cNvPr id="6" name="Text 4"/>
          <p:cNvSpPr/>
          <p:nvPr/>
        </p:nvSpPr>
        <p:spPr>
          <a:xfrm>
            <a:off x="731520" y="1005840"/>
            <a:ext cx="3200400" cy="2286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ContinueAsNew</a:t>
            </a:r>
            <a:endParaRPr lang="en-US" sz="1200" dirty="0"/>
          </a:p>
        </p:txBody>
      </p:sp>
      <p:sp>
        <p:nvSpPr>
          <p:cNvPr id="7" name="Text 5"/>
          <p:cNvSpPr/>
          <p:nvPr/>
        </p:nvSpPr>
        <p:spPr>
          <a:xfrm>
            <a:off x="731520" y="1234440"/>
            <a:ext cx="3200400" cy="5486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Temporal's built-in heuristic for event history management. Agents run for weeks without history bloat.</a:t>
            </a:r>
            <a:endParaRPr lang="en-US" sz="1000" dirty="0"/>
          </a:p>
        </p:txBody>
      </p:sp>
      <p:sp>
        <p:nvSpPr>
          <p:cNvPr id="8" name="Shape 6"/>
          <p:cNvSpPr/>
          <p:nvPr/>
        </p:nvSpPr>
        <p:spPr>
          <a:xfrm>
            <a:off x="4206240" y="1014984"/>
            <a:ext cx="4297680" cy="749808"/>
          </a:xfrm>
          <a:prstGeom prst="rect">
            <a:avLst/>
          </a:prstGeom>
          <a:solidFill>
            <a:srgbClr val="0D1117"/>
          </a:solidFill>
          <a:ln/>
        </p:spPr>
      </p:sp>
      <p:sp>
        <p:nvSpPr>
          <p:cNvPr id="9" name="Text 7"/>
          <p:cNvSpPr/>
          <p:nvPr/>
        </p:nvSpPr>
        <p:spPr>
          <a:xfrm>
            <a:off x="4343400" y="1051560"/>
            <a:ext cx="4023360" cy="685800"/>
          </a:xfrm>
          <a:prstGeom prst="rect">
            <a:avLst/>
          </a:prstGeom>
          <a:noFill/>
          <a:ln/>
        </p:spPr>
        <p:txBody>
          <a:bodyPr wrap="square" lIns="0" tIns="0" rIns="0" bIns="0" rtlCol="0" anchor="ctr"/>
          <a:lstStyle/>
          <a:p>
            <a:pPr indent="0" marL="0">
              <a:buNone/>
            </a:pPr>
            <a:r>
              <a:rPr lang="en-US" sz="850" dirty="0">
                <a:solidFill>
                  <a:srgbClr val="CBD5E1"/>
                </a:solidFill>
                <a:latin typeface="Consolas" pitchFamily="34" charset="0"/>
                <a:ea typeface="Consolas" pitchFamily="34" charset="-122"/>
                <a:cs typeface="Consolas" pitchFamily="34" charset="-120"/>
              </a:rPr>
              <a:t>if workflow.info().is_continue_as_new_suggested():</a:t>
            </a: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    workflow.continue_as_new(state)</a:t>
            </a:r>
            <a:endParaRPr lang="en-US" sz="850" dirty="0"/>
          </a:p>
        </p:txBody>
      </p:sp>
      <p:sp>
        <p:nvSpPr>
          <p:cNvPr id="10" name="Shape 8"/>
          <p:cNvSpPr/>
          <p:nvPr/>
        </p:nvSpPr>
        <p:spPr>
          <a:xfrm>
            <a:off x="457200" y="1965960"/>
            <a:ext cx="8229600" cy="868680"/>
          </a:xfrm>
          <a:prstGeom prst="rect">
            <a:avLst/>
          </a:prstGeom>
          <a:solidFill>
            <a:srgbClr val="1E293B"/>
          </a:solidFill>
          <a:ln/>
        </p:spPr>
      </p:sp>
      <p:sp>
        <p:nvSpPr>
          <p:cNvPr id="11" name="Shape 9"/>
          <p:cNvSpPr/>
          <p:nvPr/>
        </p:nvSpPr>
        <p:spPr>
          <a:xfrm>
            <a:off x="457200" y="1965960"/>
            <a:ext cx="54864" cy="868680"/>
          </a:xfrm>
          <a:prstGeom prst="rect">
            <a:avLst/>
          </a:prstGeom>
          <a:solidFill>
            <a:srgbClr val="F59E0B"/>
          </a:solidFill>
          <a:ln/>
        </p:spPr>
      </p:sp>
      <p:sp>
        <p:nvSpPr>
          <p:cNvPr id="12" name="Text 10"/>
          <p:cNvSpPr/>
          <p:nvPr/>
        </p:nvSpPr>
        <p:spPr>
          <a:xfrm>
            <a:off x="731520" y="2011680"/>
            <a:ext cx="3200400" cy="2286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Temporal Retries (not LLM retries)</a:t>
            </a:r>
            <a:endParaRPr lang="en-US" sz="1200" dirty="0"/>
          </a:p>
        </p:txBody>
      </p:sp>
      <p:sp>
        <p:nvSpPr>
          <p:cNvPr id="13" name="Text 11"/>
          <p:cNvSpPr/>
          <p:nvPr/>
        </p:nvSpPr>
        <p:spPr>
          <a:xfrm>
            <a:off x="731520" y="2240280"/>
            <a:ext cx="3200400" cy="5486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Set max_retries=0 on LLM client. Temporal's retry policy handles failures with exponential backoff — correct, durable error handling.</a:t>
            </a:r>
            <a:endParaRPr lang="en-US" sz="1000" dirty="0"/>
          </a:p>
        </p:txBody>
      </p:sp>
      <p:sp>
        <p:nvSpPr>
          <p:cNvPr id="14" name="Shape 12"/>
          <p:cNvSpPr/>
          <p:nvPr/>
        </p:nvSpPr>
        <p:spPr>
          <a:xfrm>
            <a:off x="4206240" y="2020824"/>
            <a:ext cx="4297680" cy="749808"/>
          </a:xfrm>
          <a:prstGeom prst="rect">
            <a:avLst/>
          </a:prstGeom>
          <a:solidFill>
            <a:srgbClr val="0D1117"/>
          </a:solidFill>
          <a:ln/>
        </p:spPr>
      </p:sp>
      <p:sp>
        <p:nvSpPr>
          <p:cNvPr id="15" name="Text 13"/>
          <p:cNvSpPr/>
          <p:nvPr/>
        </p:nvSpPr>
        <p:spPr>
          <a:xfrm>
            <a:off x="4343400" y="2057400"/>
            <a:ext cx="4023360" cy="685800"/>
          </a:xfrm>
          <a:prstGeom prst="rect">
            <a:avLst/>
          </a:prstGeom>
          <a:noFill/>
          <a:ln/>
        </p:spPr>
        <p:txBody>
          <a:bodyPr wrap="square" lIns="0" tIns="0" rIns="0" bIns="0" rtlCol="0" anchor="ctr"/>
          <a:lstStyle/>
          <a:p>
            <a:pPr indent="0" marL="0">
              <a:buNone/>
            </a:pPr>
            <a:r>
              <a:rPr lang="en-US" sz="850" dirty="0">
                <a:solidFill>
                  <a:srgbClr val="CBD5E1"/>
                </a:solidFill>
                <a:latin typeface="Consolas" pitchFamily="34" charset="0"/>
                <a:ea typeface="Consolas" pitchFamily="34" charset="-122"/>
                <a:cs typeface="Consolas" pitchFamily="34" charset="-120"/>
              </a:rPr>
              <a:t>client = anthropic.AsyncAnthropic(max_retries=0)</a:t>
            </a: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 Temporal handles retries with backoff</a:t>
            </a:r>
            <a:endParaRPr lang="en-US" sz="850" dirty="0"/>
          </a:p>
        </p:txBody>
      </p:sp>
      <p:sp>
        <p:nvSpPr>
          <p:cNvPr id="16" name="Shape 14"/>
          <p:cNvSpPr/>
          <p:nvPr/>
        </p:nvSpPr>
        <p:spPr>
          <a:xfrm>
            <a:off x="457200" y="2971800"/>
            <a:ext cx="8229600" cy="868680"/>
          </a:xfrm>
          <a:prstGeom prst="rect">
            <a:avLst/>
          </a:prstGeom>
          <a:solidFill>
            <a:srgbClr val="1E293B"/>
          </a:solidFill>
          <a:ln/>
        </p:spPr>
      </p:sp>
      <p:sp>
        <p:nvSpPr>
          <p:cNvPr id="17" name="Shape 15"/>
          <p:cNvSpPr/>
          <p:nvPr/>
        </p:nvSpPr>
        <p:spPr>
          <a:xfrm>
            <a:off x="457200" y="2971800"/>
            <a:ext cx="54864" cy="868680"/>
          </a:xfrm>
          <a:prstGeom prst="rect">
            <a:avLst/>
          </a:prstGeom>
          <a:solidFill>
            <a:srgbClr val="F97316"/>
          </a:solidFill>
          <a:ln/>
        </p:spPr>
      </p:sp>
      <p:sp>
        <p:nvSpPr>
          <p:cNvPr id="18" name="Text 16"/>
          <p:cNvSpPr/>
          <p:nvPr/>
        </p:nvSpPr>
        <p:spPr>
          <a:xfrm>
            <a:off x="731520" y="3017520"/>
            <a:ext cx="3200400" cy="2286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Real-Time Queries</a:t>
            </a:r>
            <a:endParaRPr lang="en-US" sz="1200" dirty="0"/>
          </a:p>
        </p:txBody>
      </p:sp>
      <p:sp>
        <p:nvSpPr>
          <p:cNvPr id="19" name="Text 17"/>
          <p:cNvSpPr/>
          <p:nvPr/>
        </p:nvSpPr>
        <p:spPr>
          <a:xfrm>
            <a:off x="731520" y="3246120"/>
            <a:ext cx="3200400" cy="5486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Inspect any agent in real-time without stopping it. Ops dashboards, debugging, compliance — all via queries.</a:t>
            </a:r>
            <a:endParaRPr lang="en-US" sz="1000" dirty="0"/>
          </a:p>
        </p:txBody>
      </p:sp>
      <p:sp>
        <p:nvSpPr>
          <p:cNvPr id="20" name="Shape 18"/>
          <p:cNvSpPr/>
          <p:nvPr/>
        </p:nvSpPr>
        <p:spPr>
          <a:xfrm>
            <a:off x="4206240" y="3026664"/>
            <a:ext cx="4297680" cy="749808"/>
          </a:xfrm>
          <a:prstGeom prst="rect">
            <a:avLst/>
          </a:prstGeom>
          <a:solidFill>
            <a:srgbClr val="0D1117"/>
          </a:solidFill>
          <a:ln/>
        </p:spPr>
      </p:sp>
      <p:sp>
        <p:nvSpPr>
          <p:cNvPr id="21" name="Text 19"/>
          <p:cNvSpPr/>
          <p:nvPr/>
        </p:nvSpPr>
        <p:spPr>
          <a:xfrm>
            <a:off x="4343400" y="3063240"/>
            <a:ext cx="4023360" cy="685800"/>
          </a:xfrm>
          <a:prstGeom prst="rect">
            <a:avLst/>
          </a:prstGeom>
          <a:noFill/>
          <a:ln/>
        </p:spPr>
        <p:txBody>
          <a:bodyPr wrap="square" lIns="0" tIns="0" rIns="0" bIns="0" rtlCol="0" anchor="ctr"/>
          <a:lstStyle/>
          <a:p>
            <a:pPr indent="0" marL="0">
              <a:buNone/>
            </a:pPr>
            <a:r>
              <a:rPr lang="en-US" sz="850" dirty="0">
                <a:solidFill>
                  <a:srgbClr val="CBD5E1"/>
                </a:solidFill>
                <a:latin typeface="Consolas" pitchFamily="34" charset="0"/>
                <a:ea typeface="Consolas" pitchFamily="34" charset="-122"/>
                <a:cs typeface="Consolas" pitchFamily="34" charset="-120"/>
              </a:rPr>
              <a:t>@workflow.query</a:t>
            </a: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def get_status(self) -&gt; dict:</a:t>
            </a: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    return {state, iterations, current_tool...}</a:t>
            </a:r>
            <a:endParaRPr lang="en-US" sz="850" dirty="0"/>
          </a:p>
          <a:p>
            <a:pPr indent="0" marL="0">
              <a:buNone/>
            </a:pP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@workflow.query</a:t>
            </a: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def get_cycle_summaries(self) -&gt; list[str]:</a:t>
            </a:r>
            <a:endParaRPr lang="en-US" sz="850" dirty="0"/>
          </a:p>
        </p:txBody>
      </p:sp>
      <p:sp>
        <p:nvSpPr>
          <p:cNvPr id="22" name="Shape 20"/>
          <p:cNvSpPr/>
          <p:nvPr/>
        </p:nvSpPr>
        <p:spPr>
          <a:xfrm>
            <a:off x="457200" y="3977640"/>
            <a:ext cx="8229600" cy="868680"/>
          </a:xfrm>
          <a:prstGeom prst="rect">
            <a:avLst/>
          </a:prstGeom>
          <a:solidFill>
            <a:srgbClr val="1E293B"/>
          </a:solidFill>
          <a:ln/>
        </p:spPr>
      </p:sp>
      <p:sp>
        <p:nvSpPr>
          <p:cNvPr id="23" name="Shape 21"/>
          <p:cNvSpPr/>
          <p:nvPr/>
        </p:nvSpPr>
        <p:spPr>
          <a:xfrm>
            <a:off x="457200" y="3977640"/>
            <a:ext cx="54864" cy="868680"/>
          </a:xfrm>
          <a:prstGeom prst="rect">
            <a:avLst/>
          </a:prstGeom>
          <a:solidFill>
            <a:srgbClr val="3B82F6"/>
          </a:solidFill>
          <a:ln/>
        </p:spPr>
      </p:sp>
      <p:sp>
        <p:nvSpPr>
          <p:cNvPr id="24" name="Text 22"/>
          <p:cNvSpPr/>
          <p:nvPr/>
        </p:nvSpPr>
        <p:spPr>
          <a:xfrm>
            <a:off x="731520" y="4023360"/>
            <a:ext cx="3200400" cy="2286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Configuration-Driven Agents</a:t>
            </a:r>
            <a:endParaRPr lang="en-US" sz="1200" dirty="0"/>
          </a:p>
        </p:txBody>
      </p:sp>
      <p:sp>
        <p:nvSpPr>
          <p:cNvPr id="25" name="Text 23"/>
          <p:cNvSpPr/>
          <p:nvPr/>
        </p:nvSpPr>
        <p:spPr>
          <a:xfrm>
            <a:off x="731520" y="4251960"/>
            <a:ext cx="3200400" cy="54864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Swap pinterest/ directory = new agent. Same workflow for Ads, Shopping, Content Moderation, Merchant Onboarding.</a:t>
            </a:r>
            <a:endParaRPr lang="en-US" sz="1000" dirty="0"/>
          </a:p>
        </p:txBody>
      </p:sp>
      <p:sp>
        <p:nvSpPr>
          <p:cNvPr id="26" name="Shape 24"/>
          <p:cNvSpPr/>
          <p:nvPr/>
        </p:nvSpPr>
        <p:spPr>
          <a:xfrm>
            <a:off x="4206240" y="4032504"/>
            <a:ext cx="4297680" cy="749808"/>
          </a:xfrm>
          <a:prstGeom prst="rect">
            <a:avLst/>
          </a:prstGeom>
          <a:solidFill>
            <a:srgbClr val="0D1117"/>
          </a:solidFill>
          <a:ln/>
        </p:spPr>
      </p:sp>
      <p:sp>
        <p:nvSpPr>
          <p:cNvPr id="27" name="Text 25"/>
          <p:cNvSpPr/>
          <p:nvPr/>
        </p:nvSpPr>
        <p:spPr>
          <a:xfrm>
            <a:off x="4343400" y="4069080"/>
            <a:ext cx="4023360" cy="685800"/>
          </a:xfrm>
          <a:prstGeom prst="rect">
            <a:avLst/>
          </a:prstGeom>
          <a:noFill/>
          <a:ln/>
        </p:spPr>
        <p:txBody>
          <a:bodyPr wrap="square" lIns="0" tIns="0" rIns="0" bIns="0" rtlCol="0" anchor="ctr"/>
          <a:lstStyle/>
          <a:p>
            <a:pPr indent="0" marL="0">
              <a:buNone/>
            </a:pPr>
            <a:r>
              <a:rPr lang="en-US" sz="850" dirty="0">
                <a:solidFill>
                  <a:srgbClr val="CBD5E1"/>
                </a:solidFill>
                <a:latin typeface="Consolas" pitchFamily="34" charset="0"/>
                <a:ea typeface="Consolas" pitchFamily="34" charset="-122"/>
                <a:cs typeface="Consolas" pitchFamily="34" charset="-120"/>
              </a:rPr>
              <a:t># pinterest/config.py — the ONLY domain file</a:t>
            </a: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AgentConfig(</a:t>
            </a: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    goal=..., tools=get_tools(),</a:t>
            </a: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    system_prompt=..., follow_up_prompt=...,</a:t>
            </a: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    max_cycles=5)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Text 1"/>
          <p:cNvSpPr/>
          <p:nvPr/>
        </p:nvSpPr>
        <p:spPr>
          <a:xfrm>
            <a:off x="731520" y="274320"/>
            <a:ext cx="8229600" cy="64008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Live Demo: Decision-Forcing Scenarios</a:t>
            </a:r>
            <a:endParaRPr lang="en-US" sz="2800" dirty="0"/>
          </a:p>
        </p:txBody>
      </p:sp>
      <p:sp>
        <p:nvSpPr>
          <p:cNvPr id="4" name="Text 2"/>
          <p:cNvSpPr/>
          <p:nvPr/>
        </p:nvSpPr>
        <p:spPr>
          <a:xfrm>
            <a:off x="731520" y="868680"/>
            <a:ext cx="7680960" cy="365760"/>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Each optimization cycle creates a distinct scenario that forces the LLM to make a real decision.</a:t>
            </a:r>
            <a:endParaRPr lang="en-US" sz="1300" dirty="0"/>
          </a:p>
        </p:txBody>
      </p:sp>
      <p:sp>
        <p:nvSpPr>
          <p:cNvPr id="5" name="Shape 3"/>
          <p:cNvSpPr/>
          <p:nvPr/>
        </p:nvSpPr>
        <p:spPr>
          <a:xfrm>
            <a:off x="457200" y="1371600"/>
            <a:ext cx="8229600" cy="411480"/>
          </a:xfrm>
          <a:prstGeom prst="rect">
            <a:avLst/>
          </a:prstGeom>
          <a:solidFill>
            <a:srgbClr val="1E293B"/>
          </a:solidFill>
          <a:ln/>
        </p:spPr>
      </p:sp>
      <p:sp>
        <p:nvSpPr>
          <p:cNvPr id="6" name="Text 4"/>
          <p:cNvSpPr/>
          <p:nvPr/>
        </p:nvSpPr>
        <p:spPr>
          <a:xfrm>
            <a:off x="640080" y="1371600"/>
            <a:ext cx="640080" cy="411480"/>
          </a:xfrm>
          <a:prstGeom prst="rect">
            <a:avLst/>
          </a:prstGeom>
          <a:noFill/>
          <a:ln/>
        </p:spPr>
        <p:txBody>
          <a:bodyPr wrap="square" lIns="0" tIns="0" rIns="0" bIns="0"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Cycle</a:t>
            </a:r>
            <a:endParaRPr lang="en-US" sz="1100" dirty="0"/>
          </a:p>
        </p:txBody>
      </p:sp>
      <p:sp>
        <p:nvSpPr>
          <p:cNvPr id="7" name="Text 5"/>
          <p:cNvSpPr/>
          <p:nvPr/>
        </p:nvSpPr>
        <p:spPr>
          <a:xfrm>
            <a:off x="1371600" y="1371600"/>
            <a:ext cx="2011680" cy="411480"/>
          </a:xfrm>
          <a:prstGeom prst="rect">
            <a:avLst/>
          </a:prstGeom>
          <a:noFill/>
          <a:ln/>
        </p:spPr>
        <p:txBody>
          <a:bodyPr wrap="square" lIns="0" tIns="0" rIns="0" bIns="0"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Scenario</a:t>
            </a:r>
            <a:endParaRPr lang="en-US" sz="1100" dirty="0"/>
          </a:p>
        </p:txBody>
      </p:sp>
      <p:sp>
        <p:nvSpPr>
          <p:cNvPr id="8" name="Text 6"/>
          <p:cNvSpPr/>
          <p:nvPr/>
        </p:nvSpPr>
        <p:spPr>
          <a:xfrm>
            <a:off x="3474720" y="1371600"/>
            <a:ext cx="2560320" cy="411480"/>
          </a:xfrm>
          <a:prstGeom prst="rect">
            <a:avLst/>
          </a:prstGeom>
          <a:noFill/>
          <a:ln/>
        </p:spPr>
        <p:txBody>
          <a:bodyPr wrap="square" lIns="0" tIns="0" rIns="0" bIns="0"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Key Metrics</a:t>
            </a:r>
            <a:endParaRPr lang="en-US" sz="1100" dirty="0"/>
          </a:p>
        </p:txBody>
      </p:sp>
      <p:sp>
        <p:nvSpPr>
          <p:cNvPr id="9" name="Text 7"/>
          <p:cNvSpPr/>
          <p:nvPr/>
        </p:nvSpPr>
        <p:spPr>
          <a:xfrm>
            <a:off x="6217920" y="1371600"/>
            <a:ext cx="2286000" cy="411480"/>
          </a:xfrm>
          <a:prstGeom prst="rect">
            <a:avLst/>
          </a:prstGeom>
          <a:noFill/>
          <a:ln/>
        </p:spPr>
        <p:txBody>
          <a:bodyPr wrap="square" lIns="0" tIns="0" rIns="0" bIns="0"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Expected Decision</a:t>
            </a:r>
            <a:endParaRPr lang="en-US" sz="1100" dirty="0"/>
          </a:p>
        </p:txBody>
      </p:sp>
      <p:sp>
        <p:nvSpPr>
          <p:cNvPr id="10" name="Shape 8"/>
          <p:cNvSpPr/>
          <p:nvPr/>
        </p:nvSpPr>
        <p:spPr>
          <a:xfrm>
            <a:off x="457200" y="1874520"/>
            <a:ext cx="8229600" cy="457200"/>
          </a:xfrm>
          <a:prstGeom prst="rect">
            <a:avLst/>
          </a:prstGeom>
          <a:solidFill>
            <a:srgbClr val="1E293B"/>
          </a:solidFill>
          <a:ln/>
        </p:spPr>
      </p:sp>
      <p:sp>
        <p:nvSpPr>
          <p:cNvPr id="11" name="Text 9"/>
          <p:cNvSpPr/>
          <p:nvPr/>
        </p:nvSpPr>
        <p:spPr>
          <a:xfrm>
            <a:off x="640080" y="1874520"/>
            <a:ext cx="640080" cy="457200"/>
          </a:xfrm>
          <a:prstGeom prst="rect">
            <a:avLst/>
          </a:prstGeom>
          <a:noFill/>
          <a:ln/>
        </p:spPr>
        <p:txBody>
          <a:bodyPr wrap="square" lIns="0" tIns="0" rIns="0" bIns="0" rtlCol="0" anchor="ctr"/>
          <a:lstStyle/>
          <a:p>
            <a:pPr algn="ctr" indent="0" marL="0">
              <a:buNone/>
            </a:pPr>
            <a:r>
              <a:rPr lang="en-US" sz="1800" dirty="0">
                <a:solidFill>
                  <a:srgbClr val="94A3B8"/>
                </a:solidFill>
                <a:latin typeface="Arial Black" pitchFamily="34" charset="0"/>
                <a:ea typeface="Arial Black" pitchFamily="34" charset="-122"/>
                <a:cs typeface="Arial Black" pitchFamily="34" charset="-120"/>
              </a:rPr>
              <a:t>1</a:t>
            </a:r>
            <a:endParaRPr lang="en-US" sz="1800" dirty="0"/>
          </a:p>
        </p:txBody>
      </p:sp>
      <p:sp>
        <p:nvSpPr>
          <p:cNvPr id="12" name="Text 10"/>
          <p:cNvSpPr/>
          <p:nvPr/>
        </p:nvSpPr>
        <p:spPr>
          <a:xfrm>
            <a:off x="1371600" y="1874520"/>
            <a:ext cx="201168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Learning Phase</a:t>
            </a:r>
            <a:endParaRPr lang="en-US" sz="1200" dirty="0"/>
          </a:p>
        </p:txBody>
      </p:sp>
      <p:sp>
        <p:nvSpPr>
          <p:cNvPr id="13" name="Text 11"/>
          <p:cNvSpPr/>
          <p:nvPr/>
        </p:nvSpPr>
        <p:spPr>
          <a:xfrm>
            <a:off x="3474720" y="1874520"/>
            <a:ext cx="2560320" cy="457200"/>
          </a:xfrm>
          <a:prstGeom prst="rect">
            <a:avLst/>
          </a:prstGeom>
          <a:noFill/>
          <a:ln/>
        </p:spPr>
        <p:txBody>
          <a:bodyPr wrap="square" lIns="0" tIns="0" rIns="0" bIns="0" rtlCol="0" anchor="ctr"/>
          <a:lstStyle/>
          <a:p>
            <a:pPr indent="0" marL="0">
              <a:buNone/>
            </a:pPr>
            <a:r>
              <a:rPr lang="en-US" sz="1100" dirty="0">
                <a:solidFill>
                  <a:srgbClr val="CBD5E1"/>
                </a:solidFill>
                <a:latin typeface="Consolas" pitchFamily="34" charset="0"/>
                <a:ea typeface="Consolas" pitchFamily="34" charset="-122"/>
                <a:cs typeface="Consolas" pitchFamily="34" charset="-120"/>
              </a:rPr>
              <a:t>47% spend, 0.6% CTR, 0 ROAS</a:t>
            </a:r>
            <a:endParaRPr lang="en-US" sz="1100" dirty="0"/>
          </a:p>
        </p:txBody>
      </p:sp>
      <p:sp>
        <p:nvSpPr>
          <p:cNvPr id="14" name="Text 12"/>
          <p:cNvSpPr/>
          <p:nvPr/>
        </p:nvSpPr>
        <p:spPr>
          <a:xfrm>
            <a:off x="6217920" y="1874520"/>
            <a:ext cx="2286000" cy="457200"/>
          </a:xfrm>
          <a:prstGeom prst="rect">
            <a:avLst/>
          </a:prstGeom>
          <a:noFill/>
          <a:ln/>
        </p:spPr>
        <p:txBody>
          <a:bodyPr wrap="square" lIns="0" tIns="0" rIns="0" bIns="0" rtlCol="0" anchor="ctr"/>
          <a:lstStyle/>
          <a:p>
            <a:pPr indent="0" marL="0">
              <a:buNone/>
            </a:pPr>
            <a:r>
              <a:rPr lang="en-US" sz="1200" b="1" dirty="0">
                <a:solidFill>
                  <a:srgbClr val="CBD5E1"/>
                </a:solidFill>
                <a:latin typeface="Calibri" pitchFamily="34" charset="0"/>
                <a:ea typeface="Calibri" pitchFamily="34" charset="-122"/>
                <a:cs typeface="Calibri" pitchFamily="34" charset="-120"/>
              </a:rPr>
              <a:t>Hold steady</a:t>
            </a:r>
            <a:endParaRPr lang="en-US" sz="1200" dirty="0"/>
          </a:p>
        </p:txBody>
      </p:sp>
      <p:sp>
        <p:nvSpPr>
          <p:cNvPr id="15" name="Shape 13"/>
          <p:cNvSpPr/>
          <p:nvPr/>
        </p:nvSpPr>
        <p:spPr>
          <a:xfrm>
            <a:off x="457200" y="2423160"/>
            <a:ext cx="8229600" cy="457200"/>
          </a:xfrm>
          <a:prstGeom prst="rect">
            <a:avLst/>
          </a:prstGeom>
          <a:solidFill>
            <a:srgbClr val="0F172A"/>
          </a:solidFill>
          <a:ln/>
        </p:spPr>
      </p:sp>
      <p:sp>
        <p:nvSpPr>
          <p:cNvPr id="16" name="Text 14"/>
          <p:cNvSpPr/>
          <p:nvPr/>
        </p:nvSpPr>
        <p:spPr>
          <a:xfrm>
            <a:off x="640080" y="2423160"/>
            <a:ext cx="640080" cy="457200"/>
          </a:xfrm>
          <a:prstGeom prst="rect">
            <a:avLst/>
          </a:prstGeom>
          <a:noFill/>
          <a:ln/>
        </p:spPr>
        <p:txBody>
          <a:bodyPr wrap="square" lIns="0" tIns="0" rIns="0" bIns="0" rtlCol="0" anchor="ctr"/>
          <a:lstStyle/>
          <a:p>
            <a:pPr algn="ctr" indent="0" marL="0">
              <a:buNone/>
            </a:pPr>
            <a:r>
              <a:rPr lang="en-US" sz="1800" dirty="0">
                <a:solidFill>
                  <a:srgbClr val="F59E0B"/>
                </a:solidFill>
                <a:latin typeface="Arial Black" pitchFamily="34" charset="0"/>
                <a:ea typeface="Arial Black" pitchFamily="34" charset="-122"/>
                <a:cs typeface="Arial Black" pitchFamily="34" charset="-120"/>
              </a:rPr>
              <a:t>2</a:t>
            </a:r>
            <a:endParaRPr lang="en-US" sz="1800" dirty="0"/>
          </a:p>
        </p:txBody>
      </p:sp>
      <p:sp>
        <p:nvSpPr>
          <p:cNvPr id="17" name="Text 15"/>
          <p:cNvSpPr/>
          <p:nvPr/>
        </p:nvSpPr>
        <p:spPr>
          <a:xfrm>
            <a:off x="1371600" y="2423160"/>
            <a:ext cx="201168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Winner + Loser</a:t>
            </a:r>
            <a:endParaRPr lang="en-US" sz="1200" dirty="0"/>
          </a:p>
        </p:txBody>
      </p:sp>
      <p:sp>
        <p:nvSpPr>
          <p:cNvPr id="18" name="Text 16"/>
          <p:cNvSpPr/>
          <p:nvPr/>
        </p:nvSpPr>
        <p:spPr>
          <a:xfrm>
            <a:off x="3474720" y="2423160"/>
            <a:ext cx="2560320" cy="457200"/>
          </a:xfrm>
          <a:prstGeom prst="rect">
            <a:avLst/>
          </a:prstGeom>
          <a:noFill/>
          <a:ln/>
        </p:spPr>
        <p:txBody>
          <a:bodyPr wrap="square" lIns="0" tIns="0" rIns="0" bIns="0" rtlCol="0" anchor="ctr"/>
          <a:lstStyle/>
          <a:p>
            <a:pPr indent="0" marL="0">
              <a:buNone/>
            </a:pPr>
            <a:r>
              <a:rPr lang="en-US" sz="1100" dirty="0">
                <a:solidFill>
                  <a:srgbClr val="CBD5E1"/>
                </a:solidFill>
                <a:latin typeface="Consolas" pitchFamily="34" charset="0"/>
                <a:ea typeface="Consolas" pitchFamily="34" charset="-122"/>
                <a:cs typeface="Consolas" pitchFamily="34" charset="-120"/>
              </a:rPr>
              <a:t>72% spend, 1.4% CTR, 1.7 ROAS</a:t>
            </a:r>
            <a:endParaRPr lang="en-US" sz="1100" dirty="0"/>
          </a:p>
        </p:txBody>
      </p:sp>
      <p:sp>
        <p:nvSpPr>
          <p:cNvPr id="19" name="Text 17"/>
          <p:cNvSpPr/>
          <p:nvPr/>
        </p:nvSpPr>
        <p:spPr>
          <a:xfrm>
            <a:off x="6217920" y="2423160"/>
            <a:ext cx="2286000" cy="45720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Pause worst ad</a:t>
            </a:r>
            <a:endParaRPr lang="en-US" sz="1200" dirty="0"/>
          </a:p>
        </p:txBody>
      </p:sp>
      <p:sp>
        <p:nvSpPr>
          <p:cNvPr id="20" name="Shape 18"/>
          <p:cNvSpPr/>
          <p:nvPr/>
        </p:nvSpPr>
        <p:spPr>
          <a:xfrm>
            <a:off x="457200" y="2971800"/>
            <a:ext cx="8229600" cy="457200"/>
          </a:xfrm>
          <a:prstGeom prst="rect">
            <a:avLst/>
          </a:prstGeom>
          <a:solidFill>
            <a:srgbClr val="1E293B"/>
          </a:solidFill>
          <a:ln/>
        </p:spPr>
      </p:sp>
      <p:sp>
        <p:nvSpPr>
          <p:cNvPr id="21" name="Text 19"/>
          <p:cNvSpPr/>
          <p:nvPr/>
        </p:nvSpPr>
        <p:spPr>
          <a:xfrm>
            <a:off x="640080" y="2971800"/>
            <a:ext cx="640080" cy="457200"/>
          </a:xfrm>
          <a:prstGeom prst="rect">
            <a:avLst/>
          </a:prstGeom>
          <a:noFill/>
          <a:ln/>
        </p:spPr>
        <p:txBody>
          <a:bodyPr wrap="square" lIns="0" tIns="0" rIns="0" bIns="0" rtlCol="0" anchor="ctr"/>
          <a:lstStyle/>
          <a:p>
            <a:pPr algn="ctr" indent="0" marL="0">
              <a:buNone/>
            </a:pPr>
            <a:r>
              <a:rPr lang="en-US" sz="1800" dirty="0">
                <a:solidFill>
                  <a:srgbClr val="22C55E"/>
                </a:solidFill>
                <a:latin typeface="Arial Black" pitchFamily="34" charset="0"/>
                <a:ea typeface="Arial Black" pitchFamily="34" charset="-122"/>
                <a:cs typeface="Arial Black" pitchFamily="34" charset="-120"/>
              </a:rPr>
              <a:t>3</a:t>
            </a:r>
            <a:endParaRPr lang="en-US" sz="1800" dirty="0"/>
          </a:p>
        </p:txBody>
      </p:sp>
      <p:sp>
        <p:nvSpPr>
          <p:cNvPr id="22" name="Text 20"/>
          <p:cNvSpPr/>
          <p:nvPr/>
        </p:nvSpPr>
        <p:spPr>
          <a:xfrm>
            <a:off x="1371600" y="2971800"/>
            <a:ext cx="201168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Strong ROAS, Underspend</a:t>
            </a:r>
            <a:endParaRPr lang="en-US" sz="1200" dirty="0"/>
          </a:p>
        </p:txBody>
      </p:sp>
      <p:sp>
        <p:nvSpPr>
          <p:cNvPr id="23" name="Text 21"/>
          <p:cNvSpPr/>
          <p:nvPr/>
        </p:nvSpPr>
        <p:spPr>
          <a:xfrm>
            <a:off x="3474720" y="2971800"/>
            <a:ext cx="2560320" cy="457200"/>
          </a:xfrm>
          <a:prstGeom prst="rect">
            <a:avLst/>
          </a:prstGeom>
          <a:noFill/>
          <a:ln/>
        </p:spPr>
        <p:txBody>
          <a:bodyPr wrap="square" lIns="0" tIns="0" rIns="0" bIns="0" rtlCol="0" anchor="ctr"/>
          <a:lstStyle/>
          <a:p>
            <a:pPr indent="0" marL="0">
              <a:buNone/>
            </a:pPr>
            <a:r>
              <a:rPr lang="en-US" sz="1100" dirty="0">
                <a:solidFill>
                  <a:srgbClr val="CBD5E1"/>
                </a:solidFill>
                <a:latin typeface="Consolas" pitchFamily="34" charset="0"/>
                <a:ea typeface="Consolas" pitchFamily="34" charset="-122"/>
                <a:cs typeface="Consolas" pitchFamily="34" charset="-120"/>
              </a:rPr>
              <a:t>58% spend, 1.9% CTR, 5.5 ROAS</a:t>
            </a:r>
            <a:endParaRPr lang="en-US" sz="1100" dirty="0"/>
          </a:p>
        </p:txBody>
      </p:sp>
      <p:sp>
        <p:nvSpPr>
          <p:cNvPr id="24" name="Text 22"/>
          <p:cNvSpPr/>
          <p:nvPr/>
        </p:nvSpPr>
        <p:spPr>
          <a:xfrm>
            <a:off x="6217920" y="2971800"/>
            <a:ext cx="2286000" cy="457200"/>
          </a:xfrm>
          <a:prstGeom prst="rect">
            <a:avLst/>
          </a:prstGeom>
          <a:noFill/>
          <a:ln/>
        </p:spPr>
        <p:txBody>
          <a:bodyPr wrap="square" lIns="0" tIns="0" rIns="0" bIns="0" rtlCol="0" anchor="ctr"/>
          <a:lstStyle/>
          <a:p>
            <a:pPr indent="0" marL="0">
              <a:buNone/>
            </a:pPr>
            <a:r>
              <a:rPr lang="en-US" sz="1200" b="1" dirty="0">
                <a:solidFill>
                  <a:srgbClr val="22C55E"/>
                </a:solidFill>
                <a:latin typeface="Calibri" pitchFamily="34" charset="0"/>
                <a:ea typeface="Calibri" pitchFamily="34" charset="-122"/>
                <a:cs typeface="Calibri" pitchFamily="34" charset="-120"/>
              </a:rPr>
              <a:t>Increase budget</a:t>
            </a:r>
            <a:endParaRPr lang="en-US" sz="1200" dirty="0"/>
          </a:p>
        </p:txBody>
      </p:sp>
      <p:sp>
        <p:nvSpPr>
          <p:cNvPr id="25" name="Shape 23"/>
          <p:cNvSpPr/>
          <p:nvPr/>
        </p:nvSpPr>
        <p:spPr>
          <a:xfrm>
            <a:off x="457200" y="3520440"/>
            <a:ext cx="8229600" cy="457200"/>
          </a:xfrm>
          <a:prstGeom prst="rect">
            <a:avLst/>
          </a:prstGeom>
          <a:solidFill>
            <a:srgbClr val="0F172A"/>
          </a:solidFill>
          <a:ln/>
        </p:spPr>
      </p:sp>
      <p:sp>
        <p:nvSpPr>
          <p:cNvPr id="26" name="Text 24"/>
          <p:cNvSpPr/>
          <p:nvPr/>
        </p:nvSpPr>
        <p:spPr>
          <a:xfrm>
            <a:off x="640080" y="3520440"/>
            <a:ext cx="640080" cy="457200"/>
          </a:xfrm>
          <a:prstGeom prst="rect">
            <a:avLst/>
          </a:prstGeom>
          <a:noFill/>
          <a:ln/>
        </p:spPr>
        <p:txBody>
          <a:bodyPr wrap="square" lIns="0" tIns="0" rIns="0" bIns="0" rtlCol="0" anchor="ctr"/>
          <a:lstStyle/>
          <a:p>
            <a:pPr algn="ctr" indent="0" marL="0">
              <a:buNone/>
            </a:pPr>
            <a:r>
              <a:rPr lang="en-US" sz="1800" dirty="0">
                <a:solidFill>
                  <a:srgbClr val="F97316"/>
                </a:solidFill>
                <a:latin typeface="Arial Black" pitchFamily="34" charset="0"/>
                <a:ea typeface="Arial Black" pitchFamily="34" charset="-122"/>
                <a:cs typeface="Arial Black" pitchFamily="34" charset="-120"/>
              </a:rPr>
              <a:t>4</a:t>
            </a:r>
            <a:endParaRPr lang="en-US" sz="1800" dirty="0"/>
          </a:p>
        </p:txBody>
      </p:sp>
      <p:sp>
        <p:nvSpPr>
          <p:cNvPr id="27" name="Text 25"/>
          <p:cNvSpPr/>
          <p:nvPr/>
        </p:nvSpPr>
        <p:spPr>
          <a:xfrm>
            <a:off x="1371600" y="3520440"/>
            <a:ext cx="201168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Creative Fatigue</a:t>
            </a:r>
            <a:endParaRPr lang="en-US" sz="1200" dirty="0"/>
          </a:p>
        </p:txBody>
      </p:sp>
      <p:sp>
        <p:nvSpPr>
          <p:cNvPr id="28" name="Text 26"/>
          <p:cNvSpPr/>
          <p:nvPr/>
        </p:nvSpPr>
        <p:spPr>
          <a:xfrm>
            <a:off x="3474720" y="3520440"/>
            <a:ext cx="2560320" cy="457200"/>
          </a:xfrm>
          <a:prstGeom prst="rect">
            <a:avLst/>
          </a:prstGeom>
          <a:noFill/>
          <a:ln/>
        </p:spPr>
        <p:txBody>
          <a:bodyPr wrap="square" lIns="0" tIns="0" rIns="0" bIns="0" rtlCol="0" anchor="ctr"/>
          <a:lstStyle/>
          <a:p>
            <a:pPr indent="0" marL="0">
              <a:buNone/>
            </a:pPr>
            <a:r>
              <a:rPr lang="en-US" sz="1100" dirty="0">
                <a:solidFill>
                  <a:srgbClr val="CBD5E1"/>
                </a:solidFill>
                <a:latin typeface="Consolas" pitchFamily="34" charset="0"/>
                <a:ea typeface="Consolas" pitchFamily="34" charset="-122"/>
                <a:cs typeface="Consolas" pitchFamily="34" charset="-120"/>
              </a:rPr>
              <a:t>74% spend, 0.3% CTR, 0.6 ROAS</a:t>
            </a:r>
            <a:endParaRPr lang="en-US" sz="1100" dirty="0"/>
          </a:p>
        </p:txBody>
      </p:sp>
      <p:sp>
        <p:nvSpPr>
          <p:cNvPr id="29" name="Text 27"/>
          <p:cNvSpPr/>
          <p:nvPr/>
        </p:nvSpPr>
        <p:spPr>
          <a:xfrm>
            <a:off x="6217920" y="3520440"/>
            <a:ext cx="2286000" cy="457200"/>
          </a:xfrm>
          <a:prstGeom prst="rect">
            <a:avLst/>
          </a:prstGeom>
          <a:noFill/>
          <a:ln/>
        </p:spPr>
        <p:txBody>
          <a:bodyPr wrap="square" lIns="0" tIns="0" rIns="0" bIns="0" rtlCol="0" anchor="ctr"/>
          <a:lstStyle/>
          <a:p>
            <a:pPr indent="0" marL="0">
              <a:buNone/>
            </a:pPr>
            <a:r>
              <a:rPr lang="en-US" sz="1200" b="1" dirty="0">
                <a:solidFill>
                  <a:srgbClr val="F97316"/>
                </a:solidFill>
                <a:latin typeface="Calibri" pitchFamily="34" charset="0"/>
                <a:ea typeface="Calibri" pitchFamily="34" charset="-122"/>
                <a:cs typeface="Calibri" pitchFamily="34" charset="-120"/>
              </a:rPr>
              <a:t>New creatives</a:t>
            </a:r>
            <a:endParaRPr lang="en-US" sz="1200" dirty="0"/>
          </a:p>
        </p:txBody>
      </p:sp>
      <p:sp>
        <p:nvSpPr>
          <p:cNvPr id="30" name="Shape 28"/>
          <p:cNvSpPr/>
          <p:nvPr/>
        </p:nvSpPr>
        <p:spPr>
          <a:xfrm>
            <a:off x="457200" y="4069080"/>
            <a:ext cx="8229600" cy="457200"/>
          </a:xfrm>
          <a:prstGeom prst="rect">
            <a:avLst/>
          </a:prstGeom>
          <a:solidFill>
            <a:srgbClr val="1E293B"/>
          </a:solidFill>
          <a:ln/>
        </p:spPr>
      </p:sp>
      <p:sp>
        <p:nvSpPr>
          <p:cNvPr id="31" name="Text 29"/>
          <p:cNvSpPr/>
          <p:nvPr/>
        </p:nvSpPr>
        <p:spPr>
          <a:xfrm>
            <a:off x="640080" y="4069080"/>
            <a:ext cx="640080" cy="457200"/>
          </a:xfrm>
          <a:prstGeom prst="rect">
            <a:avLst/>
          </a:prstGeom>
          <a:noFill/>
          <a:ln/>
        </p:spPr>
        <p:txBody>
          <a:bodyPr wrap="square" lIns="0" tIns="0" rIns="0" bIns="0" rtlCol="0" anchor="ctr"/>
          <a:lstStyle/>
          <a:p>
            <a:pPr algn="ctr" indent="0" marL="0">
              <a:buNone/>
            </a:pPr>
            <a:r>
              <a:rPr lang="en-US" sz="1800" dirty="0">
                <a:solidFill>
                  <a:srgbClr val="EF4444"/>
                </a:solidFill>
                <a:latin typeface="Arial Black" pitchFamily="34" charset="0"/>
                <a:ea typeface="Arial Black" pitchFamily="34" charset="-122"/>
                <a:cs typeface="Arial Black" pitchFamily="34" charset="-120"/>
              </a:rPr>
              <a:t>5</a:t>
            </a:r>
            <a:endParaRPr lang="en-US" sz="1800" dirty="0"/>
          </a:p>
        </p:txBody>
      </p:sp>
      <p:sp>
        <p:nvSpPr>
          <p:cNvPr id="32" name="Text 30"/>
          <p:cNvSpPr/>
          <p:nvPr/>
        </p:nvSpPr>
        <p:spPr>
          <a:xfrm>
            <a:off x="1371600" y="4069080"/>
            <a:ext cx="201168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Overspend + Bad ROAS</a:t>
            </a:r>
            <a:endParaRPr lang="en-US" sz="1200" dirty="0"/>
          </a:p>
        </p:txBody>
      </p:sp>
      <p:sp>
        <p:nvSpPr>
          <p:cNvPr id="33" name="Text 31"/>
          <p:cNvSpPr/>
          <p:nvPr/>
        </p:nvSpPr>
        <p:spPr>
          <a:xfrm>
            <a:off x="3474720" y="4069080"/>
            <a:ext cx="2560320" cy="457200"/>
          </a:xfrm>
          <a:prstGeom prst="rect">
            <a:avLst/>
          </a:prstGeom>
          <a:noFill/>
          <a:ln/>
        </p:spPr>
        <p:txBody>
          <a:bodyPr wrap="square" lIns="0" tIns="0" rIns="0" bIns="0" rtlCol="0" anchor="ctr"/>
          <a:lstStyle/>
          <a:p>
            <a:pPr indent="0" marL="0">
              <a:buNone/>
            </a:pPr>
            <a:r>
              <a:rPr lang="en-US" sz="1100" dirty="0">
                <a:solidFill>
                  <a:srgbClr val="CBD5E1"/>
                </a:solidFill>
                <a:latin typeface="Consolas" pitchFamily="34" charset="0"/>
                <a:ea typeface="Consolas" pitchFamily="34" charset="-122"/>
                <a:cs typeface="Consolas" pitchFamily="34" charset="-120"/>
              </a:rPr>
              <a:t>103% spend, 1.1% CTR, 0.3 ROAS</a:t>
            </a:r>
            <a:endParaRPr lang="en-US" sz="1100" dirty="0"/>
          </a:p>
        </p:txBody>
      </p:sp>
      <p:sp>
        <p:nvSpPr>
          <p:cNvPr id="34" name="Text 32"/>
          <p:cNvSpPr/>
          <p:nvPr/>
        </p:nvSpPr>
        <p:spPr>
          <a:xfrm>
            <a:off x="6217920" y="4069080"/>
            <a:ext cx="2286000" cy="457200"/>
          </a:xfrm>
          <a:prstGeom prst="rect">
            <a:avLst/>
          </a:prstGeom>
          <a:noFill/>
          <a:ln/>
        </p:spPr>
        <p:txBody>
          <a:bodyPr wrap="square" lIns="0" tIns="0" rIns="0" bIns="0" rtlCol="0" anchor="ctr"/>
          <a:lstStyle/>
          <a:p>
            <a:pPr indent="0" marL="0">
              <a:buNone/>
            </a:pPr>
            <a:r>
              <a:rPr lang="en-US" sz="1200" b="1" dirty="0">
                <a:solidFill>
                  <a:srgbClr val="EF4444"/>
                </a:solidFill>
                <a:latin typeface="Calibri" pitchFamily="34" charset="0"/>
                <a:ea typeface="Calibri" pitchFamily="34" charset="-122"/>
                <a:cs typeface="Calibri" pitchFamily="34" charset="-120"/>
              </a:rPr>
              <a:t>Cut budget / suspend</a:t>
            </a:r>
            <a:endParaRPr lang="en-US" sz="1200" dirty="0"/>
          </a:p>
        </p:txBody>
      </p:sp>
      <p:sp>
        <p:nvSpPr>
          <p:cNvPr id="35" name="Text 33"/>
          <p:cNvSpPr/>
          <p:nvPr/>
        </p:nvSpPr>
        <p:spPr>
          <a:xfrm>
            <a:off x="731520" y="4617720"/>
            <a:ext cx="7315200" cy="320040"/>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All decisions are made by the LLM, approved by a human, and executed as Temporal Activities.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Text 1"/>
          <p:cNvSpPr/>
          <p:nvPr/>
        </p:nvSpPr>
        <p:spPr>
          <a:xfrm>
            <a:off x="731520" y="274320"/>
            <a:ext cx="8229600" cy="64008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One Framework, Many Agents</a:t>
            </a:r>
            <a:endParaRPr lang="en-US" sz="2800" dirty="0"/>
          </a:p>
        </p:txBody>
      </p:sp>
      <p:sp>
        <p:nvSpPr>
          <p:cNvPr id="4" name="Text 2"/>
          <p:cNvSpPr/>
          <p:nvPr/>
        </p:nvSpPr>
        <p:spPr>
          <a:xfrm>
            <a:off x="731520" y="868680"/>
            <a:ext cx="7680960" cy="365760"/>
          </a:xfrm>
          <a:prstGeom prst="rect">
            <a:avLst/>
          </a:prstGeom>
          <a:noFill/>
          <a:ln/>
        </p:spPr>
        <p:txBody>
          <a:bodyPr wrap="square" lIns="0" tIns="0" rIns="0" bIns="0" rtlCol="0" anchor="ctr"/>
          <a:lstStyle/>
          <a:p>
            <a:pPr indent="0" marL="0">
              <a:buNone/>
            </a:pPr>
            <a:r>
              <a:rPr lang="en-US" sz="1400" dirty="0">
                <a:solidFill>
                  <a:srgbClr val="3B82F6"/>
                </a:solidFill>
                <a:latin typeface="Calibri" pitchFamily="34" charset="0"/>
                <a:ea typeface="Calibri" pitchFamily="34" charset="-122"/>
                <a:cs typeface="Calibri" pitchFamily="34" charset="-120"/>
              </a:rPr>
              <a:t>Same AgentWorkflow. Different domain directory. Different tools + config.</a:t>
            </a:r>
            <a:endParaRPr lang="en-US" sz="1400" dirty="0"/>
          </a:p>
        </p:txBody>
      </p:sp>
      <p:sp>
        <p:nvSpPr>
          <p:cNvPr id="5" name="Shape 3"/>
          <p:cNvSpPr/>
          <p:nvPr/>
        </p:nvSpPr>
        <p:spPr>
          <a:xfrm>
            <a:off x="457200" y="1417320"/>
            <a:ext cx="8229600" cy="749808"/>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6" name="Shape 4"/>
          <p:cNvSpPr/>
          <p:nvPr/>
        </p:nvSpPr>
        <p:spPr>
          <a:xfrm>
            <a:off x="457200" y="1417320"/>
            <a:ext cx="54864" cy="749808"/>
          </a:xfrm>
          <a:prstGeom prst="rect">
            <a:avLst/>
          </a:prstGeom>
          <a:solidFill>
            <a:srgbClr val="3B82F6"/>
          </a:solidFill>
          <a:ln/>
        </p:spPr>
      </p:sp>
      <p:sp>
        <p:nvSpPr>
          <p:cNvPr id="7" name="Text 5"/>
          <p:cNvSpPr/>
          <p:nvPr/>
        </p:nvSpPr>
        <p:spPr>
          <a:xfrm>
            <a:off x="731520" y="1463040"/>
            <a:ext cx="32004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Ad Campaign Agent</a:t>
            </a:r>
            <a:endParaRPr lang="en-US" sz="1400" dirty="0"/>
          </a:p>
        </p:txBody>
      </p:sp>
      <p:sp>
        <p:nvSpPr>
          <p:cNvPr id="8" name="Text 6"/>
          <p:cNvSpPr/>
          <p:nvPr/>
        </p:nvSpPr>
        <p:spPr>
          <a:xfrm>
            <a:off x="731520" y="1737360"/>
            <a:ext cx="3200400" cy="36576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Autonomous campaign management with HITL approval for budget changes</a:t>
            </a:r>
            <a:endParaRPr lang="en-US" sz="1000" dirty="0"/>
          </a:p>
        </p:txBody>
      </p:sp>
      <p:sp>
        <p:nvSpPr>
          <p:cNvPr id="9" name="Shape 7"/>
          <p:cNvSpPr/>
          <p:nvPr/>
        </p:nvSpPr>
        <p:spPr>
          <a:xfrm>
            <a:off x="4206240" y="1508760"/>
            <a:ext cx="4297680" cy="548640"/>
          </a:xfrm>
          <a:prstGeom prst="rect">
            <a:avLst/>
          </a:prstGeom>
          <a:solidFill>
            <a:srgbClr val="0D1117"/>
          </a:solidFill>
          <a:ln/>
        </p:spPr>
      </p:sp>
      <p:sp>
        <p:nvSpPr>
          <p:cNvPr id="10" name="Text 8"/>
          <p:cNvSpPr/>
          <p:nvPr/>
        </p:nvSpPr>
        <p:spPr>
          <a:xfrm>
            <a:off x="4343400" y="1508760"/>
            <a:ext cx="4023360" cy="548640"/>
          </a:xfrm>
          <a:prstGeom prst="rect">
            <a:avLst/>
          </a:prstGeom>
          <a:noFill/>
          <a:ln/>
        </p:spPr>
        <p:txBody>
          <a:bodyPr wrap="square" lIns="0" tIns="0" rIns="0" bIns="0" rtlCol="0" anchor="ctr"/>
          <a:lstStyle/>
          <a:p>
            <a:pPr indent="0" marL="0">
              <a:buNone/>
            </a:pPr>
            <a:r>
              <a:rPr lang="en-US" sz="900" dirty="0">
                <a:solidFill>
                  <a:srgbClr val="CBD5E1"/>
                </a:solidFill>
                <a:latin typeface="Consolas" pitchFamily="34" charset="0"/>
                <a:ea typeface="Consolas" pitchFamily="34" charset="-122"/>
                <a:cs typeface="Consolas" pitchFamily="34" charset="-120"/>
              </a:rPr>
              <a:t>create_campaign, pull_analytics, update_budget, suspend_ad_group...</a:t>
            </a:r>
            <a:endParaRPr lang="en-US" sz="900" dirty="0"/>
          </a:p>
        </p:txBody>
      </p:sp>
      <p:sp>
        <p:nvSpPr>
          <p:cNvPr id="11" name="Shape 9"/>
          <p:cNvSpPr/>
          <p:nvPr/>
        </p:nvSpPr>
        <p:spPr>
          <a:xfrm>
            <a:off x="457200" y="2286000"/>
            <a:ext cx="8229600" cy="749808"/>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12" name="Shape 10"/>
          <p:cNvSpPr/>
          <p:nvPr/>
        </p:nvSpPr>
        <p:spPr>
          <a:xfrm>
            <a:off x="457200" y="2286000"/>
            <a:ext cx="54864" cy="749808"/>
          </a:xfrm>
          <a:prstGeom prst="rect">
            <a:avLst/>
          </a:prstGeom>
          <a:solidFill>
            <a:srgbClr val="22C55E"/>
          </a:solidFill>
          <a:ln/>
        </p:spPr>
      </p:sp>
      <p:sp>
        <p:nvSpPr>
          <p:cNvPr id="13" name="Text 11"/>
          <p:cNvSpPr/>
          <p:nvPr/>
        </p:nvSpPr>
        <p:spPr>
          <a:xfrm>
            <a:off x="731520" y="2331720"/>
            <a:ext cx="32004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Content Moderation Agent</a:t>
            </a:r>
            <a:endParaRPr lang="en-US" sz="1400" dirty="0"/>
          </a:p>
        </p:txBody>
      </p:sp>
      <p:sp>
        <p:nvSpPr>
          <p:cNvPr id="14" name="Text 12"/>
          <p:cNvSpPr/>
          <p:nvPr/>
        </p:nvSpPr>
        <p:spPr>
          <a:xfrm>
            <a:off x="731520" y="2606040"/>
            <a:ext cx="3200400" cy="36576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Continuous content review with human escalation for edge cases</a:t>
            </a:r>
            <a:endParaRPr lang="en-US" sz="1000" dirty="0"/>
          </a:p>
        </p:txBody>
      </p:sp>
      <p:sp>
        <p:nvSpPr>
          <p:cNvPr id="15" name="Shape 13"/>
          <p:cNvSpPr/>
          <p:nvPr/>
        </p:nvSpPr>
        <p:spPr>
          <a:xfrm>
            <a:off x="4206240" y="2377440"/>
            <a:ext cx="4297680" cy="548640"/>
          </a:xfrm>
          <a:prstGeom prst="rect">
            <a:avLst/>
          </a:prstGeom>
          <a:solidFill>
            <a:srgbClr val="0D1117"/>
          </a:solidFill>
          <a:ln/>
        </p:spPr>
      </p:sp>
      <p:sp>
        <p:nvSpPr>
          <p:cNvPr id="16" name="Text 14"/>
          <p:cNvSpPr/>
          <p:nvPr/>
        </p:nvSpPr>
        <p:spPr>
          <a:xfrm>
            <a:off x="4343400" y="2377440"/>
            <a:ext cx="4023360" cy="548640"/>
          </a:xfrm>
          <a:prstGeom prst="rect">
            <a:avLst/>
          </a:prstGeom>
          <a:noFill/>
          <a:ln/>
        </p:spPr>
        <p:txBody>
          <a:bodyPr wrap="square" lIns="0" tIns="0" rIns="0" bIns="0" rtlCol="0" anchor="ctr"/>
          <a:lstStyle/>
          <a:p>
            <a:pPr indent="0" marL="0">
              <a:buNone/>
            </a:pPr>
            <a:r>
              <a:rPr lang="en-US" sz="900" dirty="0">
                <a:solidFill>
                  <a:srgbClr val="CBD5E1"/>
                </a:solidFill>
                <a:latin typeface="Consolas" pitchFamily="34" charset="0"/>
                <a:ea typeface="Consolas" pitchFamily="34" charset="-122"/>
                <a:cs typeface="Consolas" pitchFamily="34" charset="-120"/>
              </a:rPr>
              <a:t>flag_content, review_queue, escalate_to_human, apply_policy...</a:t>
            </a:r>
            <a:endParaRPr lang="en-US" sz="900" dirty="0"/>
          </a:p>
        </p:txBody>
      </p:sp>
      <p:sp>
        <p:nvSpPr>
          <p:cNvPr id="17" name="Shape 15"/>
          <p:cNvSpPr/>
          <p:nvPr/>
        </p:nvSpPr>
        <p:spPr>
          <a:xfrm>
            <a:off x="457200" y="3154680"/>
            <a:ext cx="8229600" cy="749808"/>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18" name="Shape 16"/>
          <p:cNvSpPr/>
          <p:nvPr/>
        </p:nvSpPr>
        <p:spPr>
          <a:xfrm>
            <a:off x="457200" y="3154680"/>
            <a:ext cx="54864" cy="749808"/>
          </a:xfrm>
          <a:prstGeom prst="rect">
            <a:avLst/>
          </a:prstGeom>
          <a:solidFill>
            <a:srgbClr val="F97316"/>
          </a:solidFill>
          <a:ln/>
        </p:spPr>
      </p:sp>
      <p:sp>
        <p:nvSpPr>
          <p:cNvPr id="19" name="Text 17"/>
          <p:cNvSpPr/>
          <p:nvPr/>
        </p:nvSpPr>
        <p:spPr>
          <a:xfrm>
            <a:off x="731520" y="3200400"/>
            <a:ext cx="32004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Shopping Recommendation Agent</a:t>
            </a:r>
            <a:endParaRPr lang="en-US" sz="1400" dirty="0"/>
          </a:p>
        </p:txBody>
      </p:sp>
      <p:sp>
        <p:nvSpPr>
          <p:cNvPr id="20" name="Text 18"/>
          <p:cNvSpPr/>
          <p:nvPr/>
        </p:nvSpPr>
        <p:spPr>
          <a:xfrm>
            <a:off x="731520" y="3474720"/>
            <a:ext cx="3200400" cy="36576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Real-time product recommendations with A/B testing and analytics</a:t>
            </a:r>
            <a:endParaRPr lang="en-US" sz="1000" dirty="0"/>
          </a:p>
        </p:txBody>
      </p:sp>
      <p:sp>
        <p:nvSpPr>
          <p:cNvPr id="21" name="Shape 19"/>
          <p:cNvSpPr/>
          <p:nvPr/>
        </p:nvSpPr>
        <p:spPr>
          <a:xfrm>
            <a:off x="4206240" y="3246120"/>
            <a:ext cx="4297680" cy="548640"/>
          </a:xfrm>
          <a:prstGeom prst="rect">
            <a:avLst/>
          </a:prstGeom>
          <a:solidFill>
            <a:srgbClr val="0D1117"/>
          </a:solidFill>
          <a:ln/>
        </p:spPr>
      </p:sp>
      <p:sp>
        <p:nvSpPr>
          <p:cNvPr id="22" name="Text 20"/>
          <p:cNvSpPr/>
          <p:nvPr/>
        </p:nvSpPr>
        <p:spPr>
          <a:xfrm>
            <a:off x="4343400" y="3246120"/>
            <a:ext cx="4023360" cy="548640"/>
          </a:xfrm>
          <a:prstGeom prst="rect">
            <a:avLst/>
          </a:prstGeom>
          <a:noFill/>
          <a:ln/>
        </p:spPr>
        <p:txBody>
          <a:bodyPr wrap="square" lIns="0" tIns="0" rIns="0" bIns="0" rtlCol="0" anchor="ctr"/>
          <a:lstStyle/>
          <a:p>
            <a:pPr indent="0" marL="0">
              <a:buNone/>
            </a:pPr>
            <a:r>
              <a:rPr lang="en-US" sz="900" dirty="0">
                <a:solidFill>
                  <a:srgbClr val="CBD5E1"/>
                </a:solidFill>
                <a:latin typeface="Consolas" pitchFamily="34" charset="0"/>
                <a:ea typeface="Consolas" pitchFamily="34" charset="-122"/>
                <a:cs typeface="Consolas" pitchFamily="34" charset="-120"/>
              </a:rPr>
              <a:t>search_catalog, personalize_feed, run_ab_test, update_ranking...</a:t>
            </a:r>
            <a:endParaRPr lang="en-US" sz="900" dirty="0"/>
          </a:p>
        </p:txBody>
      </p:sp>
      <p:sp>
        <p:nvSpPr>
          <p:cNvPr id="23" name="Shape 21"/>
          <p:cNvSpPr/>
          <p:nvPr/>
        </p:nvSpPr>
        <p:spPr>
          <a:xfrm>
            <a:off x="457200" y="4023360"/>
            <a:ext cx="8229600" cy="749808"/>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24" name="Shape 22"/>
          <p:cNvSpPr/>
          <p:nvPr/>
        </p:nvSpPr>
        <p:spPr>
          <a:xfrm>
            <a:off x="457200" y="4023360"/>
            <a:ext cx="54864" cy="749808"/>
          </a:xfrm>
          <a:prstGeom prst="rect">
            <a:avLst/>
          </a:prstGeom>
          <a:solidFill>
            <a:srgbClr val="F59E0B"/>
          </a:solidFill>
          <a:ln/>
        </p:spPr>
      </p:sp>
      <p:sp>
        <p:nvSpPr>
          <p:cNvPr id="25" name="Text 23"/>
          <p:cNvSpPr/>
          <p:nvPr/>
        </p:nvSpPr>
        <p:spPr>
          <a:xfrm>
            <a:off x="731520" y="4069080"/>
            <a:ext cx="32004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Merchant Onboarding Agent</a:t>
            </a:r>
            <a:endParaRPr lang="en-US" sz="1400" dirty="0"/>
          </a:p>
        </p:txBody>
      </p:sp>
      <p:sp>
        <p:nvSpPr>
          <p:cNvPr id="26" name="Text 24"/>
          <p:cNvSpPr/>
          <p:nvPr/>
        </p:nvSpPr>
        <p:spPr>
          <a:xfrm>
            <a:off x="731520" y="4343400"/>
            <a:ext cx="3200400" cy="36576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Guided merchant setup with compliance checks and approval gates</a:t>
            </a:r>
            <a:endParaRPr lang="en-US" sz="1000" dirty="0"/>
          </a:p>
        </p:txBody>
      </p:sp>
      <p:sp>
        <p:nvSpPr>
          <p:cNvPr id="27" name="Shape 25"/>
          <p:cNvSpPr/>
          <p:nvPr/>
        </p:nvSpPr>
        <p:spPr>
          <a:xfrm>
            <a:off x="4206240" y="4114800"/>
            <a:ext cx="4297680" cy="548640"/>
          </a:xfrm>
          <a:prstGeom prst="rect">
            <a:avLst/>
          </a:prstGeom>
          <a:solidFill>
            <a:srgbClr val="0D1117"/>
          </a:solidFill>
          <a:ln/>
        </p:spPr>
      </p:sp>
      <p:sp>
        <p:nvSpPr>
          <p:cNvPr id="28" name="Text 26"/>
          <p:cNvSpPr/>
          <p:nvPr/>
        </p:nvSpPr>
        <p:spPr>
          <a:xfrm>
            <a:off x="4343400" y="4114800"/>
            <a:ext cx="4023360" cy="548640"/>
          </a:xfrm>
          <a:prstGeom prst="rect">
            <a:avLst/>
          </a:prstGeom>
          <a:noFill/>
          <a:ln/>
        </p:spPr>
        <p:txBody>
          <a:bodyPr wrap="square" lIns="0" tIns="0" rIns="0" bIns="0" rtlCol="0" anchor="ctr"/>
          <a:lstStyle/>
          <a:p>
            <a:pPr indent="0" marL="0">
              <a:buNone/>
            </a:pPr>
            <a:r>
              <a:rPr lang="en-US" sz="900" dirty="0">
                <a:solidFill>
                  <a:srgbClr val="CBD5E1"/>
                </a:solidFill>
                <a:latin typeface="Consolas" pitchFamily="34" charset="0"/>
                <a:ea typeface="Consolas" pitchFamily="34" charset="-122"/>
                <a:cs typeface="Consolas" pitchFamily="34" charset="-120"/>
              </a:rPr>
              <a:t>verify_business, setup_catalog, configure_payments, send_welcome...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Text 1"/>
          <p:cNvSpPr/>
          <p:nvPr/>
        </p:nvSpPr>
        <p:spPr>
          <a:xfrm>
            <a:off x="731520" y="274320"/>
            <a:ext cx="8229600" cy="64008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Nexus: Cross-Team Tool Sharing</a:t>
            </a:r>
            <a:endParaRPr lang="en-US" sz="2800" dirty="0"/>
          </a:p>
        </p:txBody>
      </p:sp>
      <p:sp>
        <p:nvSpPr>
          <p:cNvPr id="4" name="Text 2"/>
          <p:cNvSpPr/>
          <p:nvPr/>
        </p:nvSpPr>
        <p:spPr>
          <a:xfrm>
            <a:off x="731520" y="868680"/>
            <a:ext cx="7680960" cy="365760"/>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Each tool becomes a Nexus Operation. Teams deploy independently. The agent calls them cross-namespace.</a:t>
            </a:r>
            <a:endParaRPr lang="en-US" sz="1300" dirty="0"/>
          </a:p>
        </p:txBody>
      </p:sp>
      <p:sp>
        <p:nvSpPr>
          <p:cNvPr id="5" name="Shape 3"/>
          <p:cNvSpPr/>
          <p:nvPr/>
        </p:nvSpPr>
        <p:spPr>
          <a:xfrm>
            <a:off x="3200400" y="1463040"/>
            <a:ext cx="2743200" cy="914400"/>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6" name="Shape 4"/>
          <p:cNvSpPr/>
          <p:nvPr/>
        </p:nvSpPr>
        <p:spPr>
          <a:xfrm>
            <a:off x="3200400" y="1463040"/>
            <a:ext cx="2743200" cy="45720"/>
          </a:xfrm>
          <a:prstGeom prst="rect">
            <a:avLst/>
          </a:prstGeom>
          <a:solidFill>
            <a:srgbClr val="3B82F6"/>
          </a:solidFill>
          <a:ln/>
        </p:spPr>
      </p:sp>
      <p:sp>
        <p:nvSpPr>
          <p:cNvPr id="7" name="Text 5"/>
          <p:cNvSpPr/>
          <p:nvPr/>
        </p:nvSpPr>
        <p:spPr>
          <a:xfrm>
            <a:off x="3200400" y="1554480"/>
            <a:ext cx="274320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AgentWorkflow</a:t>
            </a:r>
            <a:endParaRPr lang="en-US" sz="1400" dirty="0"/>
          </a:p>
        </p:txBody>
      </p:sp>
      <p:sp>
        <p:nvSpPr>
          <p:cNvPr id="8" name="Text 6"/>
          <p:cNvSpPr/>
          <p:nvPr/>
        </p:nvSpPr>
        <p:spPr>
          <a:xfrm>
            <a:off x="3200400" y="1874520"/>
            <a:ext cx="2743200" cy="274320"/>
          </a:xfrm>
          <a:prstGeom prst="rect">
            <a:avLst/>
          </a:prstGeom>
          <a:noFill/>
          <a:ln/>
        </p:spPr>
        <p:txBody>
          <a:bodyPr wrap="square" lIns="0" tIns="0" rIns="0" bIns="0" rtlCol="0" anchor="ctr"/>
          <a:lstStyle/>
          <a:p>
            <a:pPr algn="ctr" indent="0" marL="0">
              <a:buNone/>
            </a:pPr>
            <a:r>
              <a:rPr lang="en-US" sz="1100" dirty="0">
                <a:solidFill>
                  <a:srgbClr val="3B82F6"/>
                </a:solidFill>
                <a:latin typeface="Consolas" pitchFamily="34" charset="0"/>
                <a:ea typeface="Consolas" pitchFamily="34" charset="-122"/>
                <a:cs typeface="Consolas" pitchFamily="34" charset="-120"/>
              </a:rPr>
              <a:t>Nexus Endpoint</a:t>
            </a:r>
            <a:endParaRPr lang="en-US" sz="1100" dirty="0"/>
          </a:p>
        </p:txBody>
      </p:sp>
      <p:sp>
        <p:nvSpPr>
          <p:cNvPr id="9" name="Shape 7"/>
          <p:cNvSpPr/>
          <p:nvPr/>
        </p:nvSpPr>
        <p:spPr>
          <a:xfrm>
            <a:off x="731520" y="2514600"/>
            <a:ext cx="7680960" cy="274320"/>
          </a:xfrm>
          <a:prstGeom prst="rect">
            <a:avLst/>
          </a:prstGeom>
          <a:solidFill>
            <a:srgbClr val="141E33"/>
          </a:solidFill>
          <a:ln/>
        </p:spPr>
      </p:sp>
      <p:sp>
        <p:nvSpPr>
          <p:cNvPr id="10" name="Text 8"/>
          <p:cNvSpPr/>
          <p:nvPr/>
        </p:nvSpPr>
        <p:spPr>
          <a:xfrm>
            <a:off x="731520" y="2514600"/>
            <a:ext cx="768096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onsolas" pitchFamily="34" charset="0"/>
                <a:ea typeface="Consolas" pitchFamily="34" charset="-122"/>
                <a:cs typeface="Consolas" pitchFamily="34" charset="-120"/>
              </a:rPr>
              <a:t>Nexus Endpoint  ───  cross-namespace dispatch  ───  each service independently deployed</a:t>
            </a:r>
            <a:endParaRPr lang="en-US" sz="900" dirty="0"/>
          </a:p>
        </p:txBody>
      </p:sp>
      <p:sp>
        <p:nvSpPr>
          <p:cNvPr id="11" name="Shape 9"/>
          <p:cNvSpPr/>
          <p:nvPr/>
        </p:nvSpPr>
        <p:spPr>
          <a:xfrm>
            <a:off x="4572000" y="2377440"/>
            <a:ext cx="0" cy="137160"/>
          </a:xfrm>
          <a:prstGeom prst="line">
            <a:avLst/>
          </a:prstGeom>
          <a:noFill/>
          <a:ln w="25400">
            <a:solidFill>
              <a:srgbClr val="3B82F6"/>
            </a:solidFill>
            <a:prstDash val="solid"/>
          </a:ln>
        </p:spPr>
      </p:sp>
      <p:sp>
        <p:nvSpPr>
          <p:cNvPr id="12" name="Shape 10"/>
          <p:cNvSpPr/>
          <p:nvPr/>
        </p:nvSpPr>
        <p:spPr>
          <a:xfrm>
            <a:off x="1234440" y="2788920"/>
            <a:ext cx="0" cy="182880"/>
          </a:xfrm>
          <a:prstGeom prst="line">
            <a:avLst/>
          </a:prstGeom>
          <a:noFill/>
          <a:ln w="25400">
            <a:solidFill>
              <a:srgbClr val="3B82F6"/>
            </a:solidFill>
            <a:prstDash val="solid"/>
          </a:ln>
        </p:spPr>
      </p:sp>
      <p:sp>
        <p:nvSpPr>
          <p:cNvPr id="13" name="Shape 11"/>
          <p:cNvSpPr/>
          <p:nvPr/>
        </p:nvSpPr>
        <p:spPr>
          <a:xfrm>
            <a:off x="274320" y="2971800"/>
            <a:ext cx="1920240" cy="1371600"/>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14" name="Shape 12"/>
          <p:cNvSpPr/>
          <p:nvPr/>
        </p:nvSpPr>
        <p:spPr>
          <a:xfrm>
            <a:off x="274320" y="2971800"/>
            <a:ext cx="1920240" cy="45720"/>
          </a:xfrm>
          <a:prstGeom prst="rect">
            <a:avLst/>
          </a:prstGeom>
          <a:solidFill>
            <a:srgbClr val="3B82F6"/>
          </a:solidFill>
          <a:ln/>
        </p:spPr>
      </p:sp>
      <p:sp>
        <p:nvSpPr>
          <p:cNvPr id="15" name="Text 13"/>
          <p:cNvSpPr/>
          <p:nvPr/>
        </p:nvSpPr>
        <p:spPr>
          <a:xfrm>
            <a:off x="411480" y="3063240"/>
            <a:ext cx="16459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Ads API Service</a:t>
            </a:r>
            <a:endParaRPr lang="en-US" sz="1100" dirty="0"/>
          </a:p>
        </p:txBody>
      </p:sp>
      <p:sp>
        <p:nvSpPr>
          <p:cNvPr id="16" name="Text 14"/>
          <p:cNvSpPr/>
          <p:nvPr/>
        </p:nvSpPr>
        <p:spPr>
          <a:xfrm>
            <a:off x="411480" y="3291840"/>
            <a:ext cx="1645920" cy="228600"/>
          </a:xfrm>
          <a:prstGeom prst="rect">
            <a:avLst/>
          </a:prstGeom>
          <a:noFill/>
          <a:ln/>
        </p:spPr>
        <p:txBody>
          <a:bodyPr wrap="square" lIns="0" tIns="0" rIns="0" bIns="0" rtlCol="0" anchor="ctr"/>
          <a:lstStyle/>
          <a:p>
            <a:pPr indent="0" marL="0">
              <a:buNone/>
            </a:pPr>
            <a:r>
              <a:rPr lang="en-US" sz="800" dirty="0">
                <a:solidFill>
                  <a:srgbClr val="3B82F6"/>
                </a:solidFill>
                <a:latin typeface="Consolas" pitchFamily="34" charset="0"/>
                <a:ea typeface="Consolas" pitchFamily="34" charset="-122"/>
                <a:cs typeface="Consolas" pitchFamily="34" charset="-120"/>
              </a:rPr>
              <a:t>ads-namespace</a:t>
            </a:r>
            <a:endParaRPr lang="en-US" sz="800" dirty="0"/>
          </a:p>
        </p:txBody>
      </p:sp>
      <p:sp>
        <p:nvSpPr>
          <p:cNvPr id="17" name="Text 15"/>
          <p:cNvSpPr/>
          <p:nvPr/>
        </p:nvSpPr>
        <p:spPr>
          <a:xfrm>
            <a:off x="411480" y="3520440"/>
            <a:ext cx="1645920" cy="777240"/>
          </a:xfrm>
          <a:prstGeom prst="rect">
            <a:avLst/>
          </a:prstGeom>
          <a:noFill/>
          <a:ln/>
        </p:spPr>
        <p:txBody>
          <a:bodyPr wrap="square" lIns="0" tIns="0" rIns="0" bIns="0" rtlCol="0" anchor="ctr"/>
          <a:lstStyle/>
          <a:p>
            <a:pPr indent="0" marL="0">
              <a:buNone/>
            </a:pPr>
            <a:r>
              <a:rPr lang="en-US" sz="900" dirty="0">
                <a:solidFill>
                  <a:srgbClr val="94A3B8"/>
                </a:solidFill>
                <a:latin typeface="Consolas" pitchFamily="34" charset="0"/>
                <a:ea typeface="Consolas" pitchFamily="34" charset="-122"/>
                <a:cs typeface="Consolas" pitchFamily="34" charset="-120"/>
              </a:rPr>
              <a:t>create_campaign</a:t>
            </a:r>
            <a:endParaRPr lang="en-US" sz="900" dirty="0"/>
          </a:p>
          <a:p>
            <a:pPr indent="0" marL="0">
              <a:buNone/>
            </a:pPr>
            <a:r>
              <a:rPr lang="en-US" sz="900" dirty="0">
                <a:solidFill>
                  <a:srgbClr val="94A3B8"/>
                </a:solidFill>
                <a:latin typeface="Consolas" pitchFamily="34" charset="0"/>
                <a:ea typeface="Consolas" pitchFamily="34" charset="-122"/>
                <a:cs typeface="Consolas" pitchFamily="34" charset="-120"/>
              </a:rPr>
              <a:t>update_budget</a:t>
            </a:r>
            <a:endParaRPr lang="en-US" sz="900" dirty="0"/>
          </a:p>
          <a:p>
            <a:pPr indent="0" marL="0">
              <a:buNone/>
            </a:pPr>
            <a:r>
              <a:rPr lang="en-US" sz="900" dirty="0">
                <a:solidFill>
                  <a:srgbClr val="94A3B8"/>
                </a:solidFill>
                <a:latin typeface="Consolas" pitchFamily="34" charset="0"/>
                <a:ea typeface="Consolas" pitchFamily="34" charset="-122"/>
                <a:cs typeface="Consolas" pitchFamily="34" charset="-120"/>
              </a:rPr>
              <a:t>pull_analytics</a:t>
            </a:r>
            <a:endParaRPr lang="en-US" sz="900" dirty="0"/>
          </a:p>
          <a:p>
            <a:pPr indent="0" marL="0">
              <a:buNone/>
            </a:pPr>
            <a:r>
              <a:rPr lang="en-US" sz="900" dirty="0">
                <a:solidFill>
                  <a:srgbClr val="94A3B8"/>
                </a:solidFill>
                <a:latin typeface="Consolas" pitchFamily="34" charset="0"/>
                <a:ea typeface="Consolas" pitchFamily="34" charset="-122"/>
                <a:cs typeface="Consolas" pitchFamily="34" charset="-120"/>
              </a:rPr>
              <a:t>suspend_ad_group</a:t>
            </a:r>
            <a:endParaRPr lang="en-US" sz="900" dirty="0"/>
          </a:p>
        </p:txBody>
      </p:sp>
      <p:sp>
        <p:nvSpPr>
          <p:cNvPr id="18" name="Shape 16"/>
          <p:cNvSpPr/>
          <p:nvPr/>
        </p:nvSpPr>
        <p:spPr>
          <a:xfrm>
            <a:off x="3337560" y="2788920"/>
            <a:ext cx="0" cy="182880"/>
          </a:xfrm>
          <a:prstGeom prst="line">
            <a:avLst/>
          </a:prstGeom>
          <a:noFill/>
          <a:ln w="25400">
            <a:solidFill>
              <a:srgbClr val="22C55E"/>
            </a:solidFill>
            <a:prstDash val="solid"/>
          </a:ln>
        </p:spPr>
      </p:sp>
      <p:sp>
        <p:nvSpPr>
          <p:cNvPr id="19" name="Shape 17"/>
          <p:cNvSpPr/>
          <p:nvPr/>
        </p:nvSpPr>
        <p:spPr>
          <a:xfrm>
            <a:off x="2377440" y="2971800"/>
            <a:ext cx="1920240" cy="1371600"/>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20" name="Shape 18"/>
          <p:cNvSpPr/>
          <p:nvPr/>
        </p:nvSpPr>
        <p:spPr>
          <a:xfrm>
            <a:off x="2377440" y="2971800"/>
            <a:ext cx="1920240" cy="45720"/>
          </a:xfrm>
          <a:prstGeom prst="rect">
            <a:avLst/>
          </a:prstGeom>
          <a:solidFill>
            <a:srgbClr val="22C55E"/>
          </a:solidFill>
          <a:ln/>
        </p:spPr>
      </p:sp>
      <p:sp>
        <p:nvSpPr>
          <p:cNvPr id="21" name="Text 19"/>
          <p:cNvSpPr/>
          <p:nvPr/>
        </p:nvSpPr>
        <p:spPr>
          <a:xfrm>
            <a:off x="2514600" y="3063240"/>
            <a:ext cx="16459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ML Service</a:t>
            </a:r>
            <a:endParaRPr lang="en-US" sz="1100" dirty="0"/>
          </a:p>
        </p:txBody>
      </p:sp>
      <p:sp>
        <p:nvSpPr>
          <p:cNvPr id="22" name="Text 20"/>
          <p:cNvSpPr/>
          <p:nvPr/>
        </p:nvSpPr>
        <p:spPr>
          <a:xfrm>
            <a:off x="2514600" y="3291840"/>
            <a:ext cx="1645920" cy="228600"/>
          </a:xfrm>
          <a:prstGeom prst="rect">
            <a:avLst/>
          </a:prstGeom>
          <a:noFill/>
          <a:ln/>
        </p:spPr>
        <p:txBody>
          <a:bodyPr wrap="square" lIns="0" tIns="0" rIns="0" bIns="0" rtlCol="0" anchor="ctr"/>
          <a:lstStyle/>
          <a:p>
            <a:pPr indent="0" marL="0">
              <a:buNone/>
            </a:pPr>
            <a:r>
              <a:rPr lang="en-US" sz="800" dirty="0">
                <a:solidFill>
                  <a:srgbClr val="22C55E"/>
                </a:solidFill>
                <a:latin typeface="Consolas" pitchFamily="34" charset="0"/>
                <a:ea typeface="Consolas" pitchFamily="34" charset="-122"/>
                <a:cs typeface="Consolas" pitchFamily="34" charset="-120"/>
              </a:rPr>
              <a:t>ml-namespace</a:t>
            </a:r>
            <a:endParaRPr lang="en-US" sz="800" dirty="0"/>
          </a:p>
        </p:txBody>
      </p:sp>
      <p:sp>
        <p:nvSpPr>
          <p:cNvPr id="23" name="Text 21"/>
          <p:cNvSpPr/>
          <p:nvPr/>
        </p:nvSpPr>
        <p:spPr>
          <a:xfrm>
            <a:off x="2514600" y="3520440"/>
            <a:ext cx="1645920" cy="777240"/>
          </a:xfrm>
          <a:prstGeom prst="rect">
            <a:avLst/>
          </a:prstGeom>
          <a:noFill/>
          <a:ln/>
        </p:spPr>
        <p:txBody>
          <a:bodyPr wrap="square" lIns="0" tIns="0" rIns="0" bIns="0" rtlCol="0" anchor="ctr"/>
          <a:lstStyle/>
          <a:p>
            <a:pPr indent="0" marL="0">
              <a:buNone/>
            </a:pPr>
            <a:r>
              <a:rPr lang="en-US" sz="900" dirty="0">
                <a:solidFill>
                  <a:srgbClr val="94A3B8"/>
                </a:solidFill>
                <a:latin typeface="Consolas" pitchFamily="34" charset="0"/>
                <a:ea typeface="Consolas" pitchFamily="34" charset="-122"/>
                <a:cs typeface="Consolas" pitchFamily="34" charset="-120"/>
              </a:rPr>
              <a:t>generate_creatives</a:t>
            </a:r>
            <a:endParaRPr lang="en-US" sz="900" dirty="0"/>
          </a:p>
          <a:p>
            <a:pPr indent="0" marL="0">
              <a:buNone/>
            </a:pPr>
            <a:r>
              <a:rPr lang="en-US" sz="900" dirty="0">
                <a:solidFill>
                  <a:srgbClr val="94A3B8"/>
                </a:solidFill>
                <a:latin typeface="Consolas" pitchFamily="34" charset="0"/>
                <a:ea typeface="Consolas" pitchFamily="34" charset="-122"/>
                <a:cs typeface="Consolas" pitchFamily="34" charset="-120"/>
              </a:rPr>
              <a:t>personalize_feed</a:t>
            </a:r>
            <a:endParaRPr lang="en-US" sz="900" dirty="0"/>
          </a:p>
          <a:p>
            <a:pPr indent="0" marL="0">
              <a:buNone/>
            </a:pPr>
            <a:r>
              <a:rPr lang="en-US" sz="900" dirty="0">
                <a:solidFill>
                  <a:srgbClr val="94A3B8"/>
                </a:solidFill>
                <a:latin typeface="Consolas" pitchFamily="34" charset="0"/>
                <a:ea typeface="Consolas" pitchFamily="34" charset="-122"/>
                <a:cs typeface="Consolas" pitchFamily="34" charset="-120"/>
              </a:rPr>
              <a:t>rank_products</a:t>
            </a:r>
            <a:endParaRPr lang="en-US" sz="900" dirty="0"/>
          </a:p>
        </p:txBody>
      </p:sp>
      <p:sp>
        <p:nvSpPr>
          <p:cNvPr id="24" name="Shape 22"/>
          <p:cNvSpPr/>
          <p:nvPr/>
        </p:nvSpPr>
        <p:spPr>
          <a:xfrm>
            <a:off x="5440680" y="2788920"/>
            <a:ext cx="0" cy="182880"/>
          </a:xfrm>
          <a:prstGeom prst="line">
            <a:avLst/>
          </a:prstGeom>
          <a:noFill/>
          <a:ln w="25400">
            <a:solidFill>
              <a:srgbClr val="F97316"/>
            </a:solidFill>
            <a:prstDash val="solid"/>
          </a:ln>
        </p:spPr>
      </p:sp>
      <p:sp>
        <p:nvSpPr>
          <p:cNvPr id="25" name="Shape 23"/>
          <p:cNvSpPr/>
          <p:nvPr/>
        </p:nvSpPr>
        <p:spPr>
          <a:xfrm>
            <a:off x="4480560" y="2971800"/>
            <a:ext cx="1920240" cy="1371600"/>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26" name="Shape 24"/>
          <p:cNvSpPr/>
          <p:nvPr/>
        </p:nvSpPr>
        <p:spPr>
          <a:xfrm>
            <a:off x="4480560" y="2971800"/>
            <a:ext cx="1920240" cy="45720"/>
          </a:xfrm>
          <a:prstGeom prst="rect">
            <a:avLst/>
          </a:prstGeom>
          <a:solidFill>
            <a:srgbClr val="F97316"/>
          </a:solidFill>
          <a:ln/>
        </p:spPr>
      </p:sp>
      <p:sp>
        <p:nvSpPr>
          <p:cNvPr id="27" name="Text 25"/>
          <p:cNvSpPr/>
          <p:nvPr/>
        </p:nvSpPr>
        <p:spPr>
          <a:xfrm>
            <a:off x="4617720" y="3063240"/>
            <a:ext cx="16459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Commerce Service</a:t>
            </a:r>
            <a:endParaRPr lang="en-US" sz="1100" dirty="0"/>
          </a:p>
        </p:txBody>
      </p:sp>
      <p:sp>
        <p:nvSpPr>
          <p:cNvPr id="28" name="Text 26"/>
          <p:cNvSpPr/>
          <p:nvPr/>
        </p:nvSpPr>
        <p:spPr>
          <a:xfrm>
            <a:off x="4617720" y="3291840"/>
            <a:ext cx="1645920" cy="228600"/>
          </a:xfrm>
          <a:prstGeom prst="rect">
            <a:avLst/>
          </a:prstGeom>
          <a:noFill/>
          <a:ln/>
        </p:spPr>
        <p:txBody>
          <a:bodyPr wrap="square" lIns="0" tIns="0" rIns="0" bIns="0" rtlCol="0" anchor="ctr"/>
          <a:lstStyle/>
          <a:p>
            <a:pPr indent="0" marL="0">
              <a:buNone/>
            </a:pPr>
            <a:r>
              <a:rPr lang="en-US" sz="800" dirty="0">
                <a:solidFill>
                  <a:srgbClr val="F97316"/>
                </a:solidFill>
                <a:latin typeface="Consolas" pitchFamily="34" charset="0"/>
                <a:ea typeface="Consolas" pitchFamily="34" charset="-122"/>
                <a:cs typeface="Consolas" pitchFamily="34" charset="-120"/>
              </a:rPr>
              <a:t>commerce-namespace</a:t>
            </a:r>
            <a:endParaRPr lang="en-US" sz="800" dirty="0"/>
          </a:p>
        </p:txBody>
      </p:sp>
      <p:sp>
        <p:nvSpPr>
          <p:cNvPr id="29" name="Text 27"/>
          <p:cNvSpPr/>
          <p:nvPr/>
        </p:nvSpPr>
        <p:spPr>
          <a:xfrm>
            <a:off x="4617720" y="3520440"/>
            <a:ext cx="1645920" cy="777240"/>
          </a:xfrm>
          <a:prstGeom prst="rect">
            <a:avLst/>
          </a:prstGeom>
          <a:noFill/>
          <a:ln/>
        </p:spPr>
        <p:txBody>
          <a:bodyPr wrap="square" lIns="0" tIns="0" rIns="0" bIns="0" rtlCol="0" anchor="ctr"/>
          <a:lstStyle/>
          <a:p>
            <a:pPr indent="0" marL="0">
              <a:buNone/>
            </a:pPr>
            <a:r>
              <a:rPr lang="en-US" sz="900" dirty="0">
                <a:solidFill>
                  <a:srgbClr val="94A3B8"/>
                </a:solidFill>
                <a:latin typeface="Consolas" pitchFamily="34" charset="0"/>
                <a:ea typeface="Consolas" pitchFamily="34" charset="-122"/>
                <a:cs typeface="Consolas" pitchFamily="34" charset="-120"/>
              </a:rPr>
              <a:t>setup_catalog</a:t>
            </a:r>
            <a:endParaRPr lang="en-US" sz="900" dirty="0"/>
          </a:p>
          <a:p>
            <a:pPr indent="0" marL="0">
              <a:buNone/>
            </a:pPr>
            <a:r>
              <a:rPr lang="en-US" sz="900" dirty="0">
                <a:solidFill>
                  <a:srgbClr val="94A3B8"/>
                </a:solidFill>
                <a:latin typeface="Consolas" pitchFamily="34" charset="0"/>
                <a:ea typeface="Consolas" pitchFamily="34" charset="-122"/>
                <a:cs typeface="Consolas" pitchFamily="34" charset="-120"/>
              </a:rPr>
              <a:t>process_payment</a:t>
            </a:r>
            <a:endParaRPr lang="en-US" sz="900" dirty="0"/>
          </a:p>
          <a:p>
            <a:pPr indent="0" marL="0">
              <a:buNone/>
            </a:pPr>
            <a:r>
              <a:rPr lang="en-US" sz="900" dirty="0">
                <a:solidFill>
                  <a:srgbClr val="94A3B8"/>
                </a:solidFill>
                <a:latin typeface="Consolas" pitchFamily="34" charset="0"/>
                <a:ea typeface="Consolas" pitchFamily="34" charset="-122"/>
                <a:cs typeface="Consolas" pitchFamily="34" charset="-120"/>
              </a:rPr>
              <a:t>verify_merchant</a:t>
            </a:r>
            <a:endParaRPr lang="en-US" sz="900" dirty="0"/>
          </a:p>
        </p:txBody>
      </p:sp>
      <p:sp>
        <p:nvSpPr>
          <p:cNvPr id="30" name="Shape 28"/>
          <p:cNvSpPr/>
          <p:nvPr/>
        </p:nvSpPr>
        <p:spPr>
          <a:xfrm>
            <a:off x="7543800" y="2788920"/>
            <a:ext cx="0" cy="182880"/>
          </a:xfrm>
          <a:prstGeom prst="line">
            <a:avLst/>
          </a:prstGeom>
          <a:noFill/>
          <a:ln w="25400">
            <a:solidFill>
              <a:srgbClr val="EF4444"/>
            </a:solidFill>
            <a:prstDash val="solid"/>
          </a:ln>
        </p:spPr>
      </p:sp>
      <p:sp>
        <p:nvSpPr>
          <p:cNvPr id="31" name="Shape 29"/>
          <p:cNvSpPr/>
          <p:nvPr/>
        </p:nvSpPr>
        <p:spPr>
          <a:xfrm>
            <a:off x="6583680" y="2971800"/>
            <a:ext cx="1920240" cy="1371600"/>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32" name="Shape 30"/>
          <p:cNvSpPr/>
          <p:nvPr/>
        </p:nvSpPr>
        <p:spPr>
          <a:xfrm>
            <a:off x="6583680" y="2971800"/>
            <a:ext cx="1920240" cy="45720"/>
          </a:xfrm>
          <a:prstGeom prst="rect">
            <a:avLst/>
          </a:prstGeom>
          <a:solidFill>
            <a:srgbClr val="EF4444"/>
          </a:solidFill>
          <a:ln/>
        </p:spPr>
      </p:sp>
      <p:sp>
        <p:nvSpPr>
          <p:cNvPr id="33" name="Text 31"/>
          <p:cNvSpPr/>
          <p:nvPr/>
        </p:nvSpPr>
        <p:spPr>
          <a:xfrm>
            <a:off x="6720840" y="3063240"/>
            <a:ext cx="16459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Trust &amp; Safety</a:t>
            </a:r>
            <a:endParaRPr lang="en-US" sz="1100" dirty="0"/>
          </a:p>
        </p:txBody>
      </p:sp>
      <p:sp>
        <p:nvSpPr>
          <p:cNvPr id="34" name="Text 32"/>
          <p:cNvSpPr/>
          <p:nvPr/>
        </p:nvSpPr>
        <p:spPr>
          <a:xfrm>
            <a:off x="6720840" y="3291840"/>
            <a:ext cx="1645920" cy="228600"/>
          </a:xfrm>
          <a:prstGeom prst="rect">
            <a:avLst/>
          </a:prstGeom>
          <a:noFill/>
          <a:ln/>
        </p:spPr>
        <p:txBody>
          <a:bodyPr wrap="square" lIns="0" tIns="0" rIns="0" bIns="0" rtlCol="0" anchor="ctr"/>
          <a:lstStyle/>
          <a:p>
            <a:pPr indent="0" marL="0">
              <a:buNone/>
            </a:pPr>
            <a:r>
              <a:rPr lang="en-US" sz="800" dirty="0">
                <a:solidFill>
                  <a:srgbClr val="EF4444"/>
                </a:solidFill>
                <a:latin typeface="Consolas" pitchFamily="34" charset="0"/>
                <a:ea typeface="Consolas" pitchFamily="34" charset="-122"/>
                <a:cs typeface="Consolas" pitchFamily="34" charset="-120"/>
              </a:rPr>
              <a:t>trust-namespace</a:t>
            </a:r>
            <a:endParaRPr lang="en-US" sz="800" dirty="0"/>
          </a:p>
        </p:txBody>
      </p:sp>
      <p:sp>
        <p:nvSpPr>
          <p:cNvPr id="35" name="Text 33"/>
          <p:cNvSpPr/>
          <p:nvPr/>
        </p:nvSpPr>
        <p:spPr>
          <a:xfrm>
            <a:off x="6720840" y="3520440"/>
            <a:ext cx="1645920" cy="777240"/>
          </a:xfrm>
          <a:prstGeom prst="rect">
            <a:avLst/>
          </a:prstGeom>
          <a:noFill/>
          <a:ln/>
        </p:spPr>
        <p:txBody>
          <a:bodyPr wrap="square" lIns="0" tIns="0" rIns="0" bIns="0" rtlCol="0" anchor="ctr"/>
          <a:lstStyle/>
          <a:p>
            <a:pPr indent="0" marL="0">
              <a:buNone/>
            </a:pPr>
            <a:r>
              <a:rPr lang="en-US" sz="900" dirty="0">
                <a:solidFill>
                  <a:srgbClr val="94A3B8"/>
                </a:solidFill>
                <a:latin typeface="Consolas" pitchFamily="34" charset="0"/>
                <a:ea typeface="Consolas" pitchFamily="34" charset="-122"/>
                <a:cs typeface="Consolas" pitchFamily="34" charset="-120"/>
              </a:rPr>
              <a:t>flag_content</a:t>
            </a:r>
            <a:endParaRPr lang="en-US" sz="900" dirty="0"/>
          </a:p>
          <a:p>
            <a:pPr indent="0" marL="0">
              <a:buNone/>
            </a:pPr>
            <a:r>
              <a:rPr lang="en-US" sz="900" dirty="0">
                <a:solidFill>
                  <a:srgbClr val="94A3B8"/>
                </a:solidFill>
                <a:latin typeface="Consolas" pitchFamily="34" charset="0"/>
                <a:ea typeface="Consolas" pitchFamily="34" charset="-122"/>
                <a:cs typeface="Consolas" pitchFamily="34" charset="-120"/>
              </a:rPr>
              <a:t>apply_policy</a:t>
            </a:r>
            <a:endParaRPr lang="en-US" sz="900" dirty="0"/>
          </a:p>
          <a:p>
            <a:pPr indent="0" marL="0">
              <a:buNone/>
            </a:pPr>
            <a:r>
              <a:rPr lang="en-US" sz="900" dirty="0">
                <a:solidFill>
                  <a:srgbClr val="94A3B8"/>
                </a:solidFill>
                <a:latin typeface="Consolas" pitchFamily="34" charset="0"/>
                <a:ea typeface="Consolas" pitchFamily="34" charset="-122"/>
                <a:cs typeface="Consolas" pitchFamily="34" charset="-120"/>
              </a:rPr>
              <a:t>escalate_to_human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Text 1"/>
          <p:cNvSpPr/>
          <p:nvPr/>
        </p:nvSpPr>
        <p:spPr>
          <a:xfrm>
            <a:off x="731520" y="274320"/>
            <a:ext cx="8229600" cy="640080"/>
          </a:xfrm>
          <a:prstGeom prst="rect">
            <a:avLst/>
          </a:prstGeom>
          <a:noFill/>
          <a:ln/>
        </p:spPr>
        <p:txBody>
          <a:bodyPr wrap="square" lIns="0" tIns="0" rIns="0" bIns="0" rtlCol="0" anchor="ctr"/>
          <a:lstStyle/>
          <a:p>
            <a:pPr indent="0" marL="0">
              <a:buNone/>
            </a:pPr>
            <a:r>
              <a:rPr lang="en-US" sz="2800" dirty="0">
                <a:solidFill>
                  <a:srgbClr val="FFFFFF"/>
                </a:solidFill>
                <a:latin typeface="Arial Black" pitchFamily="34" charset="0"/>
                <a:ea typeface="Arial Black" pitchFamily="34" charset="-122"/>
                <a:cs typeface="Arial Black" pitchFamily="34" charset="-120"/>
              </a:rPr>
              <a:t>Scale &amp; Production Readiness</a:t>
            </a:r>
            <a:endParaRPr lang="en-US" sz="2800" dirty="0"/>
          </a:p>
        </p:txBody>
      </p:sp>
      <p:sp>
        <p:nvSpPr>
          <p:cNvPr id="4" name="Shape 2"/>
          <p:cNvSpPr/>
          <p:nvPr/>
        </p:nvSpPr>
        <p:spPr>
          <a:xfrm>
            <a:off x="457200" y="1097280"/>
            <a:ext cx="1920240" cy="1188720"/>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5" name="Text 3"/>
          <p:cNvSpPr/>
          <p:nvPr/>
        </p:nvSpPr>
        <p:spPr>
          <a:xfrm>
            <a:off x="457200" y="1188720"/>
            <a:ext cx="1920240" cy="548640"/>
          </a:xfrm>
          <a:prstGeom prst="rect">
            <a:avLst/>
          </a:prstGeom>
          <a:noFill/>
          <a:ln/>
        </p:spPr>
        <p:txBody>
          <a:bodyPr wrap="square" lIns="0" tIns="0" rIns="0" bIns="0" rtlCol="0" anchor="ctr"/>
          <a:lstStyle/>
          <a:p>
            <a:pPr algn="ctr" indent="0" marL="0">
              <a:buNone/>
            </a:pPr>
            <a:r>
              <a:rPr lang="en-US" sz="2200" dirty="0">
                <a:solidFill>
                  <a:srgbClr val="3B82F6"/>
                </a:solidFill>
                <a:latin typeface="Arial Black" pitchFamily="34" charset="0"/>
                <a:ea typeface="Arial Black" pitchFamily="34" charset="-122"/>
                <a:cs typeface="Arial Black" pitchFamily="34" charset="-120"/>
              </a:rPr>
              <a:t>1 Workflow</a:t>
            </a:r>
            <a:endParaRPr lang="en-US" sz="2200" dirty="0"/>
          </a:p>
        </p:txBody>
      </p:sp>
      <p:sp>
        <p:nvSpPr>
          <p:cNvPr id="6" name="Text 4"/>
          <p:cNvSpPr/>
          <p:nvPr/>
        </p:nvSpPr>
        <p:spPr>
          <a:xfrm>
            <a:off x="457200" y="1783080"/>
            <a:ext cx="1920240" cy="411480"/>
          </a:xfrm>
          <a:prstGeom prst="rect">
            <a:avLst/>
          </a:prstGeom>
          <a:noFill/>
          <a:ln/>
        </p:spPr>
        <p:txBody>
          <a:bodyPr wrap="square" lIns="0" tIns="0" rIns="0" bIns="0" rtlCol="0" anchor="t"/>
          <a:lstStyle/>
          <a:p>
            <a:pPr algn="ctr" indent="0" marL="0">
              <a:buNone/>
            </a:pPr>
            <a:r>
              <a:rPr lang="en-US" sz="1100" dirty="0">
                <a:solidFill>
                  <a:srgbClr val="94A3B8"/>
                </a:solidFill>
                <a:latin typeface="Calibri" pitchFamily="34" charset="0"/>
                <a:ea typeface="Calibri" pitchFamily="34" charset="-122"/>
                <a:cs typeface="Calibri" pitchFamily="34" charset="-120"/>
              </a:rPr>
              <a:t>per campaign agent</a:t>
            </a:r>
            <a:endParaRPr lang="en-US" sz="1100" dirty="0"/>
          </a:p>
        </p:txBody>
      </p:sp>
      <p:sp>
        <p:nvSpPr>
          <p:cNvPr id="7" name="Shape 5"/>
          <p:cNvSpPr/>
          <p:nvPr/>
        </p:nvSpPr>
        <p:spPr>
          <a:xfrm>
            <a:off x="2560320" y="1097280"/>
            <a:ext cx="1920240" cy="1188720"/>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8" name="Text 6"/>
          <p:cNvSpPr/>
          <p:nvPr/>
        </p:nvSpPr>
        <p:spPr>
          <a:xfrm>
            <a:off x="2560320" y="1188720"/>
            <a:ext cx="1920240" cy="548640"/>
          </a:xfrm>
          <a:prstGeom prst="rect">
            <a:avLst/>
          </a:prstGeom>
          <a:noFill/>
          <a:ln/>
        </p:spPr>
        <p:txBody>
          <a:bodyPr wrap="square" lIns="0" tIns="0" rIns="0" bIns="0" rtlCol="0" anchor="ctr"/>
          <a:lstStyle/>
          <a:p>
            <a:pPr algn="ctr" indent="0" marL="0">
              <a:buNone/>
            </a:pPr>
            <a:r>
              <a:rPr lang="en-US" sz="2200" dirty="0">
                <a:solidFill>
                  <a:srgbClr val="3B82F6"/>
                </a:solidFill>
                <a:latin typeface="Arial Black" pitchFamily="34" charset="0"/>
                <a:ea typeface="Arial Black" pitchFamily="34" charset="-122"/>
                <a:cs typeface="Arial Black" pitchFamily="34" charset="-120"/>
              </a:rPr>
              <a:t>Stateless</a:t>
            </a:r>
            <a:endParaRPr lang="en-US" sz="2200" dirty="0"/>
          </a:p>
        </p:txBody>
      </p:sp>
      <p:sp>
        <p:nvSpPr>
          <p:cNvPr id="9" name="Text 7"/>
          <p:cNvSpPr/>
          <p:nvPr/>
        </p:nvSpPr>
        <p:spPr>
          <a:xfrm>
            <a:off x="2560320" y="1783080"/>
            <a:ext cx="1920240" cy="411480"/>
          </a:xfrm>
          <a:prstGeom prst="rect">
            <a:avLst/>
          </a:prstGeom>
          <a:noFill/>
          <a:ln/>
        </p:spPr>
        <p:txBody>
          <a:bodyPr wrap="square" lIns="0" tIns="0" rIns="0" bIns="0" rtlCol="0" anchor="t"/>
          <a:lstStyle/>
          <a:p>
            <a:pPr algn="ctr" indent="0" marL="0">
              <a:buNone/>
            </a:pPr>
            <a:r>
              <a:rPr lang="en-US" sz="1100" dirty="0">
                <a:solidFill>
                  <a:srgbClr val="94A3B8"/>
                </a:solidFill>
                <a:latin typeface="Calibri" pitchFamily="34" charset="0"/>
                <a:ea typeface="Calibri" pitchFamily="34" charset="-122"/>
                <a:cs typeface="Calibri" pitchFamily="34" charset="-120"/>
              </a:rPr>
              <a:t>workers, scale horizontally</a:t>
            </a:r>
            <a:endParaRPr lang="en-US" sz="1100" dirty="0"/>
          </a:p>
        </p:txBody>
      </p:sp>
      <p:sp>
        <p:nvSpPr>
          <p:cNvPr id="10" name="Shape 8"/>
          <p:cNvSpPr/>
          <p:nvPr/>
        </p:nvSpPr>
        <p:spPr>
          <a:xfrm>
            <a:off x="4663440" y="1097280"/>
            <a:ext cx="1920240" cy="1188720"/>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11" name="Text 9"/>
          <p:cNvSpPr/>
          <p:nvPr/>
        </p:nvSpPr>
        <p:spPr>
          <a:xfrm>
            <a:off x="4663440" y="1188720"/>
            <a:ext cx="1920240" cy="548640"/>
          </a:xfrm>
          <a:prstGeom prst="rect">
            <a:avLst/>
          </a:prstGeom>
          <a:noFill/>
          <a:ln/>
        </p:spPr>
        <p:txBody>
          <a:bodyPr wrap="square" lIns="0" tIns="0" rIns="0" bIns="0" rtlCol="0" anchor="ctr"/>
          <a:lstStyle/>
          <a:p>
            <a:pPr algn="ctr" indent="0" marL="0">
              <a:buNone/>
            </a:pPr>
            <a:r>
              <a:rPr lang="en-US" sz="2200" dirty="0">
                <a:solidFill>
                  <a:srgbClr val="3B82F6"/>
                </a:solidFill>
                <a:latin typeface="Arial Black" pitchFamily="34" charset="0"/>
                <a:ea typeface="Arial Black" pitchFamily="34" charset="-122"/>
                <a:cs typeface="Arial Black" pitchFamily="34" charset="-120"/>
              </a:rPr>
              <a:t>Millions</a:t>
            </a:r>
            <a:endParaRPr lang="en-US" sz="2200" dirty="0"/>
          </a:p>
        </p:txBody>
      </p:sp>
      <p:sp>
        <p:nvSpPr>
          <p:cNvPr id="12" name="Text 10"/>
          <p:cNvSpPr/>
          <p:nvPr/>
        </p:nvSpPr>
        <p:spPr>
          <a:xfrm>
            <a:off x="4663440" y="1783080"/>
            <a:ext cx="1920240" cy="411480"/>
          </a:xfrm>
          <a:prstGeom prst="rect">
            <a:avLst/>
          </a:prstGeom>
          <a:noFill/>
          <a:ln/>
        </p:spPr>
        <p:txBody>
          <a:bodyPr wrap="square" lIns="0" tIns="0" rIns="0" bIns="0" rtlCol="0" anchor="t"/>
          <a:lstStyle/>
          <a:p>
            <a:pPr algn="ctr" indent="0" marL="0">
              <a:buNone/>
            </a:pPr>
            <a:r>
              <a:rPr lang="en-US" sz="1100" dirty="0">
                <a:solidFill>
                  <a:srgbClr val="94A3B8"/>
                </a:solidFill>
                <a:latin typeface="Calibri" pitchFamily="34" charset="0"/>
                <a:ea typeface="Calibri" pitchFamily="34" charset="-122"/>
                <a:cs typeface="Calibri" pitchFamily="34" charset="-120"/>
              </a:rPr>
              <a:t>concurrent executions</a:t>
            </a:r>
            <a:endParaRPr lang="en-US" sz="1100" dirty="0"/>
          </a:p>
        </p:txBody>
      </p:sp>
      <p:sp>
        <p:nvSpPr>
          <p:cNvPr id="13" name="Shape 11"/>
          <p:cNvSpPr/>
          <p:nvPr/>
        </p:nvSpPr>
        <p:spPr>
          <a:xfrm>
            <a:off x="6766560" y="1097280"/>
            <a:ext cx="1920240" cy="1188720"/>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14" name="Text 12"/>
          <p:cNvSpPr/>
          <p:nvPr/>
        </p:nvSpPr>
        <p:spPr>
          <a:xfrm>
            <a:off x="6766560" y="1188720"/>
            <a:ext cx="1920240" cy="548640"/>
          </a:xfrm>
          <a:prstGeom prst="rect">
            <a:avLst/>
          </a:prstGeom>
          <a:noFill/>
          <a:ln/>
        </p:spPr>
        <p:txBody>
          <a:bodyPr wrap="square" lIns="0" tIns="0" rIns="0" bIns="0" rtlCol="0" anchor="ctr"/>
          <a:lstStyle/>
          <a:p>
            <a:pPr algn="ctr" indent="0" marL="0">
              <a:buNone/>
            </a:pPr>
            <a:r>
              <a:rPr lang="en-US" sz="2200" dirty="0">
                <a:solidFill>
                  <a:srgbClr val="3B82F6"/>
                </a:solidFill>
                <a:latin typeface="Arial Black" pitchFamily="34" charset="0"/>
                <a:ea typeface="Arial Black" pitchFamily="34" charset="-122"/>
                <a:cs typeface="Arial Black" pitchFamily="34" charset="-120"/>
              </a:rPr>
              <a:t>100%</a:t>
            </a:r>
            <a:endParaRPr lang="en-US" sz="2200" dirty="0"/>
          </a:p>
        </p:txBody>
      </p:sp>
      <p:sp>
        <p:nvSpPr>
          <p:cNvPr id="15" name="Text 13"/>
          <p:cNvSpPr/>
          <p:nvPr/>
        </p:nvSpPr>
        <p:spPr>
          <a:xfrm>
            <a:off x="6766560" y="1783080"/>
            <a:ext cx="1920240" cy="411480"/>
          </a:xfrm>
          <a:prstGeom prst="rect">
            <a:avLst/>
          </a:prstGeom>
          <a:noFill/>
          <a:ln/>
        </p:spPr>
        <p:txBody>
          <a:bodyPr wrap="square" lIns="0" tIns="0" rIns="0" bIns="0" rtlCol="0" anchor="t"/>
          <a:lstStyle/>
          <a:p>
            <a:pPr algn="ctr" indent="0" marL="0">
              <a:buNone/>
            </a:pPr>
            <a:r>
              <a:rPr lang="en-US" sz="1100" dirty="0">
                <a:solidFill>
                  <a:srgbClr val="94A3B8"/>
                </a:solidFill>
                <a:latin typeface="Calibri" pitchFamily="34" charset="0"/>
                <a:ea typeface="Calibri" pitchFamily="34" charset="-122"/>
                <a:cs typeface="Calibri" pitchFamily="34" charset="-120"/>
              </a:rPr>
              <a:t>audit trail via event history</a:t>
            </a:r>
            <a:endParaRPr lang="en-US" sz="1100" dirty="0"/>
          </a:p>
        </p:txBody>
      </p:sp>
      <p:sp>
        <p:nvSpPr>
          <p:cNvPr id="16" name="Shape 14"/>
          <p:cNvSpPr/>
          <p:nvPr/>
        </p:nvSpPr>
        <p:spPr>
          <a:xfrm>
            <a:off x="457200" y="2606040"/>
            <a:ext cx="8229600" cy="640080"/>
          </a:xfrm>
          <a:prstGeom prst="rect">
            <a:avLst/>
          </a:prstGeom>
          <a:solidFill>
            <a:srgbClr val="1E293B"/>
          </a:solidFill>
          <a:ln/>
        </p:spPr>
      </p:sp>
      <p:sp>
        <p:nvSpPr>
          <p:cNvPr id="17" name="Shape 15"/>
          <p:cNvSpPr/>
          <p:nvPr/>
        </p:nvSpPr>
        <p:spPr>
          <a:xfrm>
            <a:off x="457200" y="2606040"/>
            <a:ext cx="54864" cy="640080"/>
          </a:xfrm>
          <a:prstGeom prst="rect">
            <a:avLst/>
          </a:prstGeom>
          <a:solidFill>
            <a:srgbClr val="22C55E"/>
          </a:solidFill>
          <a:ln/>
        </p:spPr>
      </p:sp>
      <p:sp>
        <p:nvSpPr>
          <p:cNvPr id="18" name="Text 16"/>
          <p:cNvSpPr/>
          <p:nvPr/>
        </p:nvSpPr>
        <p:spPr>
          <a:xfrm>
            <a:off x="731520" y="2606040"/>
            <a:ext cx="2011680" cy="6400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Durable Execution</a:t>
            </a:r>
            <a:endParaRPr lang="en-US" sz="1300" dirty="0"/>
          </a:p>
        </p:txBody>
      </p:sp>
      <p:sp>
        <p:nvSpPr>
          <p:cNvPr id="19" name="Text 17"/>
          <p:cNvSpPr/>
          <p:nvPr/>
        </p:nvSpPr>
        <p:spPr>
          <a:xfrm>
            <a:off x="2743200" y="2606040"/>
            <a:ext cx="5760720" cy="64008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Kill the worker mid-campaign. Restart. Agent resumes from the last completed Activity. No lost state, no duplicate API calls.</a:t>
            </a:r>
            <a:endParaRPr lang="en-US" sz="1100" dirty="0"/>
          </a:p>
        </p:txBody>
      </p:sp>
      <p:sp>
        <p:nvSpPr>
          <p:cNvPr id="20" name="Shape 18"/>
          <p:cNvSpPr/>
          <p:nvPr/>
        </p:nvSpPr>
        <p:spPr>
          <a:xfrm>
            <a:off x="457200" y="3383280"/>
            <a:ext cx="8229600" cy="640080"/>
          </a:xfrm>
          <a:prstGeom prst="rect">
            <a:avLst/>
          </a:prstGeom>
          <a:solidFill>
            <a:srgbClr val="1E293B"/>
          </a:solidFill>
          <a:ln/>
        </p:spPr>
      </p:sp>
      <p:sp>
        <p:nvSpPr>
          <p:cNvPr id="21" name="Shape 19"/>
          <p:cNvSpPr/>
          <p:nvPr/>
        </p:nvSpPr>
        <p:spPr>
          <a:xfrm>
            <a:off x="457200" y="3383280"/>
            <a:ext cx="54864" cy="640080"/>
          </a:xfrm>
          <a:prstGeom prst="rect">
            <a:avLst/>
          </a:prstGeom>
          <a:solidFill>
            <a:srgbClr val="22C55E"/>
          </a:solidFill>
          <a:ln/>
        </p:spPr>
      </p:sp>
      <p:sp>
        <p:nvSpPr>
          <p:cNvPr id="22" name="Text 20"/>
          <p:cNvSpPr/>
          <p:nvPr/>
        </p:nvSpPr>
        <p:spPr>
          <a:xfrm>
            <a:off x="731520" y="3383280"/>
            <a:ext cx="2011680" cy="6400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Observability</a:t>
            </a:r>
            <a:endParaRPr lang="en-US" sz="1300" dirty="0"/>
          </a:p>
        </p:txBody>
      </p:sp>
      <p:sp>
        <p:nvSpPr>
          <p:cNvPr id="23" name="Text 21"/>
          <p:cNvSpPr/>
          <p:nvPr/>
        </p:nvSpPr>
        <p:spPr>
          <a:xfrm>
            <a:off x="2743200" y="3383280"/>
            <a:ext cx="5760720" cy="64008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Every Activity, Signal, Query, and timer in the event history. Queryable via SDK, UI, or API. Pipe to Datadog/Grafana for aggregate monitoring.</a:t>
            </a:r>
            <a:endParaRPr lang="en-US" sz="1100" dirty="0"/>
          </a:p>
        </p:txBody>
      </p:sp>
      <p:sp>
        <p:nvSpPr>
          <p:cNvPr id="24" name="Shape 22"/>
          <p:cNvSpPr/>
          <p:nvPr/>
        </p:nvSpPr>
        <p:spPr>
          <a:xfrm>
            <a:off x="457200" y="4160520"/>
            <a:ext cx="8229600" cy="640080"/>
          </a:xfrm>
          <a:prstGeom prst="rect">
            <a:avLst/>
          </a:prstGeom>
          <a:solidFill>
            <a:srgbClr val="1E293B"/>
          </a:solidFill>
          <a:ln/>
        </p:spPr>
      </p:sp>
      <p:sp>
        <p:nvSpPr>
          <p:cNvPr id="25" name="Shape 23"/>
          <p:cNvSpPr/>
          <p:nvPr/>
        </p:nvSpPr>
        <p:spPr>
          <a:xfrm>
            <a:off x="457200" y="4160520"/>
            <a:ext cx="54864" cy="640080"/>
          </a:xfrm>
          <a:prstGeom prst="rect">
            <a:avLst/>
          </a:prstGeom>
          <a:solidFill>
            <a:srgbClr val="22C55E"/>
          </a:solidFill>
          <a:ln/>
        </p:spPr>
      </p:sp>
      <p:sp>
        <p:nvSpPr>
          <p:cNvPr id="26" name="Text 24"/>
          <p:cNvSpPr/>
          <p:nvPr/>
        </p:nvSpPr>
        <p:spPr>
          <a:xfrm>
            <a:off x="731520" y="4160520"/>
            <a:ext cx="2011680" cy="6400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Proven at Scale</a:t>
            </a:r>
            <a:endParaRPr lang="en-US" sz="1300" dirty="0"/>
          </a:p>
        </p:txBody>
      </p:sp>
      <p:sp>
        <p:nvSpPr>
          <p:cNvPr id="27" name="Text 25"/>
          <p:cNvSpPr/>
          <p:nvPr/>
        </p:nvSpPr>
        <p:spPr>
          <a:xfrm>
            <a:off x="2743200" y="4160520"/>
            <a:ext cx="5760720" cy="64008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OpenAI Codex (web agent), Replit Agent 3, Snap, Netflix, Stripe — all run critical workloads on Temporal. Not a startup experiment.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sp>
      <p:sp>
        <p:nvSpPr>
          <p:cNvPr id="3" name="Text 1"/>
          <p:cNvSpPr/>
          <p:nvPr/>
        </p:nvSpPr>
        <p:spPr>
          <a:xfrm>
            <a:off x="731520" y="365760"/>
            <a:ext cx="8229600" cy="640080"/>
          </a:xfrm>
          <a:prstGeom prst="rect">
            <a:avLst/>
          </a:prstGeom>
          <a:noFill/>
          <a:ln/>
        </p:spPr>
        <p:txBody>
          <a:bodyPr wrap="square" lIns="0" tIns="0" rIns="0" bIns="0" rtlCol="0" anchor="ctr"/>
          <a:lstStyle/>
          <a:p>
            <a:pPr indent="0" marL="0">
              <a:buNone/>
            </a:pPr>
            <a:r>
              <a:rPr lang="en-US" sz="3600" dirty="0">
                <a:solidFill>
                  <a:srgbClr val="FFFFFF"/>
                </a:solidFill>
                <a:latin typeface="Arial Black" pitchFamily="34" charset="0"/>
                <a:ea typeface="Arial Black" pitchFamily="34" charset="-122"/>
                <a:cs typeface="Arial Black" pitchFamily="34" charset="-120"/>
              </a:rPr>
              <a:t>Next Steps</a:t>
            </a:r>
            <a:endParaRPr lang="en-US" sz="3600" dirty="0"/>
          </a:p>
        </p:txBody>
      </p:sp>
      <p:sp>
        <p:nvSpPr>
          <p:cNvPr id="4" name="Shape 2"/>
          <p:cNvSpPr/>
          <p:nvPr/>
        </p:nvSpPr>
        <p:spPr>
          <a:xfrm>
            <a:off x="731520" y="1280160"/>
            <a:ext cx="7680960" cy="731520"/>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5" name="Shape 3"/>
          <p:cNvSpPr/>
          <p:nvPr/>
        </p:nvSpPr>
        <p:spPr>
          <a:xfrm>
            <a:off x="731520" y="1280160"/>
            <a:ext cx="54864" cy="731520"/>
          </a:xfrm>
          <a:prstGeom prst="rect">
            <a:avLst/>
          </a:prstGeom>
          <a:solidFill>
            <a:srgbClr val="3B82F6"/>
          </a:solidFill>
          <a:ln/>
        </p:spPr>
      </p:sp>
      <p:sp>
        <p:nvSpPr>
          <p:cNvPr id="6" name="Shape 4"/>
          <p:cNvSpPr/>
          <p:nvPr/>
        </p:nvSpPr>
        <p:spPr>
          <a:xfrm>
            <a:off x="1005840" y="1417320"/>
            <a:ext cx="457200" cy="457200"/>
          </a:xfrm>
          <a:prstGeom prst="ellipse">
            <a:avLst/>
          </a:prstGeom>
          <a:solidFill>
            <a:srgbClr val="3B82F6"/>
          </a:solidFill>
          <a:ln/>
        </p:spPr>
      </p:sp>
      <p:sp>
        <p:nvSpPr>
          <p:cNvPr id="7" name="Text 5"/>
          <p:cNvSpPr/>
          <p:nvPr/>
        </p:nvSpPr>
        <p:spPr>
          <a:xfrm>
            <a:off x="1005840" y="1417320"/>
            <a:ext cx="457200" cy="457200"/>
          </a:xfrm>
          <a:prstGeom prst="rect">
            <a:avLst/>
          </a:prstGeom>
          <a:noFill/>
          <a:ln/>
        </p:spPr>
        <p:txBody>
          <a:bodyPr wrap="square" lIns="0" tIns="0" rIns="0" bIns="0" rtlCol="0" anchor="ctr"/>
          <a:lstStyle/>
          <a:p>
            <a:pPr algn="ctr" indent="0" marL="0">
              <a:buNone/>
            </a:pPr>
            <a:r>
              <a:rPr lang="en-US" sz="1800" dirty="0">
                <a:solidFill>
                  <a:srgbClr val="FFFFFF"/>
                </a:solidFill>
                <a:latin typeface="Arial Black" pitchFamily="34" charset="0"/>
                <a:ea typeface="Arial Black" pitchFamily="34" charset="-122"/>
                <a:cs typeface="Arial Black" pitchFamily="34" charset="-120"/>
              </a:rPr>
              <a:t>1</a:t>
            </a:r>
            <a:endParaRPr lang="en-US" sz="1800" dirty="0"/>
          </a:p>
        </p:txBody>
      </p:sp>
      <p:sp>
        <p:nvSpPr>
          <p:cNvPr id="8" name="Text 6"/>
          <p:cNvSpPr/>
          <p:nvPr/>
        </p:nvSpPr>
        <p:spPr>
          <a:xfrm>
            <a:off x="1691640" y="1353312"/>
            <a:ext cx="64008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POC with Real Pinterest APIs</a:t>
            </a:r>
            <a:endParaRPr lang="en-US" sz="1400" dirty="0"/>
          </a:p>
        </p:txBody>
      </p:sp>
      <p:sp>
        <p:nvSpPr>
          <p:cNvPr id="9" name="Text 7"/>
          <p:cNvSpPr/>
          <p:nvPr/>
        </p:nvSpPr>
        <p:spPr>
          <a:xfrm>
            <a:off x="1691640" y="1645920"/>
            <a:ext cx="640080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Replace simulated tools with actual Pinterest v5 API calls. Validate end-to-end with a real campaign.</a:t>
            </a:r>
            <a:endParaRPr lang="en-US" sz="1100" dirty="0"/>
          </a:p>
        </p:txBody>
      </p:sp>
      <p:sp>
        <p:nvSpPr>
          <p:cNvPr id="10" name="Shape 8"/>
          <p:cNvSpPr/>
          <p:nvPr/>
        </p:nvSpPr>
        <p:spPr>
          <a:xfrm>
            <a:off x="731520" y="2148840"/>
            <a:ext cx="7680960" cy="731520"/>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11" name="Shape 9"/>
          <p:cNvSpPr/>
          <p:nvPr/>
        </p:nvSpPr>
        <p:spPr>
          <a:xfrm>
            <a:off x="731520" y="2148840"/>
            <a:ext cx="54864" cy="731520"/>
          </a:xfrm>
          <a:prstGeom prst="rect">
            <a:avLst/>
          </a:prstGeom>
          <a:solidFill>
            <a:srgbClr val="3B82F6"/>
          </a:solidFill>
          <a:ln/>
        </p:spPr>
      </p:sp>
      <p:sp>
        <p:nvSpPr>
          <p:cNvPr id="12" name="Shape 10"/>
          <p:cNvSpPr/>
          <p:nvPr/>
        </p:nvSpPr>
        <p:spPr>
          <a:xfrm>
            <a:off x="1005840" y="2286000"/>
            <a:ext cx="457200" cy="457200"/>
          </a:xfrm>
          <a:prstGeom prst="ellipse">
            <a:avLst/>
          </a:prstGeom>
          <a:solidFill>
            <a:srgbClr val="3B82F6"/>
          </a:solidFill>
          <a:ln/>
        </p:spPr>
      </p:sp>
      <p:sp>
        <p:nvSpPr>
          <p:cNvPr id="13" name="Text 11"/>
          <p:cNvSpPr/>
          <p:nvPr/>
        </p:nvSpPr>
        <p:spPr>
          <a:xfrm>
            <a:off x="1005840" y="2286000"/>
            <a:ext cx="457200" cy="457200"/>
          </a:xfrm>
          <a:prstGeom prst="rect">
            <a:avLst/>
          </a:prstGeom>
          <a:noFill/>
          <a:ln/>
        </p:spPr>
        <p:txBody>
          <a:bodyPr wrap="square" lIns="0" tIns="0" rIns="0" bIns="0" rtlCol="0" anchor="ctr"/>
          <a:lstStyle/>
          <a:p>
            <a:pPr algn="ctr" indent="0" marL="0">
              <a:buNone/>
            </a:pPr>
            <a:r>
              <a:rPr lang="en-US" sz="1800" dirty="0">
                <a:solidFill>
                  <a:srgbClr val="FFFFFF"/>
                </a:solidFill>
                <a:latin typeface="Arial Black" pitchFamily="34" charset="0"/>
                <a:ea typeface="Arial Black" pitchFamily="34" charset="-122"/>
                <a:cs typeface="Arial Black" pitchFamily="34" charset="-120"/>
              </a:rPr>
              <a:t>2</a:t>
            </a:r>
            <a:endParaRPr lang="en-US" sz="1800" dirty="0"/>
          </a:p>
        </p:txBody>
      </p:sp>
      <p:sp>
        <p:nvSpPr>
          <p:cNvPr id="14" name="Text 12"/>
          <p:cNvSpPr/>
          <p:nvPr/>
        </p:nvSpPr>
        <p:spPr>
          <a:xfrm>
            <a:off x="1691640" y="2221992"/>
            <a:ext cx="64008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Production Architecture Review</a:t>
            </a:r>
            <a:endParaRPr lang="en-US" sz="1400" dirty="0"/>
          </a:p>
        </p:txBody>
      </p:sp>
      <p:sp>
        <p:nvSpPr>
          <p:cNvPr id="15" name="Text 13"/>
          <p:cNvSpPr/>
          <p:nvPr/>
        </p:nvSpPr>
        <p:spPr>
          <a:xfrm>
            <a:off x="1691640" y="2514600"/>
            <a:ext cx="640080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Temporal Cloud setup, worker deployment strategy, namespaces, task queues, and observability integration.</a:t>
            </a:r>
            <a:endParaRPr lang="en-US" sz="1100" dirty="0"/>
          </a:p>
        </p:txBody>
      </p:sp>
      <p:sp>
        <p:nvSpPr>
          <p:cNvPr id="16" name="Shape 14"/>
          <p:cNvSpPr/>
          <p:nvPr/>
        </p:nvSpPr>
        <p:spPr>
          <a:xfrm>
            <a:off x="731520" y="3017520"/>
            <a:ext cx="7680960" cy="731520"/>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17" name="Shape 15"/>
          <p:cNvSpPr/>
          <p:nvPr/>
        </p:nvSpPr>
        <p:spPr>
          <a:xfrm>
            <a:off x="731520" y="3017520"/>
            <a:ext cx="54864" cy="731520"/>
          </a:xfrm>
          <a:prstGeom prst="rect">
            <a:avLst/>
          </a:prstGeom>
          <a:solidFill>
            <a:srgbClr val="3B82F6"/>
          </a:solidFill>
          <a:ln/>
        </p:spPr>
      </p:sp>
      <p:sp>
        <p:nvSpPr>
          <p:cNvPr id="18" name="Shape 16"/>
          <p:cNvSpPr/>
          <p:nvPr/>
        </p:nvSpPr>
        <p:spPr>
          <a:xfrm>
            <a:off x="1005840" y="3154680"/>
            <a:ext cx="457200" cy="457200"/>
          </a:xfrm>
          <a:prstGeom prst="ellipse">
            <a:avLst/>
          </a:prstGeom>
          <a:solidFill>
            <a:srgbClr val="3B82F6"/>
          </a:solidFill>
          <a:ln/>
        </p:spPr>
      </p:sp>
      <p:sp>
        <p:nvSpPr>
          <p:cNvPr id="19" name="Text 17"/>
          <p:cNvSpPr/>
          <p:nvPr/>
        </p:nvSpPr>
        <p:spPr>
          <a:xfrm>
            <a:off x="1005840" y="3154680"/>
            <a:ext cx="457200" cy="457200"/>
          </a:xfrm>
          <a:prstGeom prst="rect">
            <a:avLst/>
          </a:prstGeom>
          <a:noFill/>
          <a:ln/>
        </p:spPr>
        <p:txBody>
          <a:bodyPr wrap="square" lIns="0" tIns="0" rIns="0" bIns="0" rtlCol="0" anchor="ctr"/>
          <a:lstStyle/>
          <a:p>
            <a:pPr algn="ctr" indent="0" marL="0">
              <a:buNone/>
            </a:pPr>
            <a:r>
              <a:rPr lang="en-US" sz="1800" dirty="0">
                <a:solidFill>
                  <a:srgbClr val="FFFFFF"/>
                </a:solidFill>
                <a:latin typeface="Arial Black" pitchFamily="34" charset="0"/>
                <a:ea typeface="Arial Black" pitchFamily="34" charset="-122"/>
                <a:cs typeface="Arial Black" pitchFamily="34" charset="-120"/>
              </a:rPr>
              <a:t>3</a:t>
            </a:r>
            <a:endParaRPr lang="en-US" sz="1800" dirty="0"/>
          </a:p>
        </p:txBody>
      </p:sp>
      <p:sp>
        <p:nvSpPr>
          <p:cNvPr id="20" name="Text 18"/>
          <p:cNvSpPr/>
          <p:nvPr/>
        </p:nvSpPr>
        <p:spPr>
          <a:xfrm>
            <a:off x="1691640" y="3090672"/>
            <a:ext cx="64008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Platform Design Workshop</a:t>
            </a:r>
            <a:endParaRPr lang="en-US" sz="1400" dirty="0"/>
          </a:p>
        </p:txBody>
      </p:sp>
      <p:sp>
        <p:nvSpPr>
          <p:cNvPr id="21" name="Text 19"/>
          <p:cNvSpPr/>
          <p:nvPr/>
        </p:nvSpPr>
        <p:spPr>
          <a:xfrm>
            <a:off x="1691640" y="3383280"/>
            <a:ext cx="640080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Map Pinterest's agentic use cases to the generic framework. Identify tools, HITL gates, and Nexus boundaries.</a:t>
            </a:r>
            <a:endParaRPr lang="en-US" sz="1100" dirty="0"/>
          </a:p>
        </p:txBody>
      </p:sp>
      <p:sp>
        <p:nvSpPr>
          <p:cNvPr id="22" name="Shape 20"/>
          <p:cNvSpPr/>
          <p:nvPr/>
        </p:nvSpPr>
        <p:spPr>
          <a:xfrm>
            <a:off x="731520" y="3886200"/>
            <a:ext cx="7680960" cy="731520"/>
          </a:xfrm>
          <a:prstGeom prst="rect">
            <a:avLst/>
          </a:prstGeom>
          <a:solidFill>
            <a:srgbClr val="1E293B"/>
          </a:solidFill>
          <a:ln/>
          <a:effectLst>
            <a:outerShdw sx="100000" sy="100000" kx="0" ky="0" algn="bl" rotWithShape="0" blurRad="101600" dist="38100" dir="8100000">
              <a:srgbClr val="000000">
                <a:alpha val="25000"/>
              </a:srgbClr>
            </a:outerShdw>
          </a:effectLst>
        </p:spPr>
      </p:sp>
      <p:sp>
        <p:nvSpPr>
          <p:cNvPr id="23" name="Shape 21"/>
          <p:cNvSpPr/>
          <p:nvPr/>
        </p:nvSpPr>
        <p:spPr>
          <a:xfrm>
            <a:off x="731520" y="3886200"/>
            <a:ext cx="54864" cy="731520"/>
          </a:xfrm>
          <a:prstGeom prst="rect">
            <a:avLst/>
          </a:prstGeom>
          <a:solidFill>
            <a:srgbClr val="3B82F6"/>
          </a:solidFill>
          <a:ln/>
        </p:spPr>
      </p:sp>
      <p:sp>
        <p:nvSpPr>
          <p:cNvPr id="24" name="Shape 22"/>
          <p:cNvSpPr/>
          <p:nvPr/>
        </p:nvSpPr>
        <p:spPr>
          <a:xfrm>
            <a:off x="1005840" y="4023360"/>
            <a:ext cx="457200" cy="457200"/>
          </a:xfrm>
          <a:prstGeom prst="ellipse">
            <a:avLst/>
          </a:prstGeom>
          <a:solidFill>
            <a:srgbClr val="3B82F6"/>
          </a:solidFill>
          <a:ln/>
        </p:spPr>
      </p:sp>
      <p:sp>
        <p:nvSpPr>
          <p:cNvPr id="25" name="Text 23"/>
          <p:cNvSpPr/>
          <p:nvPr/>
        </p:nvSpPr>
        <p:spPr>
          <a:xfrm>
            <a:off x="1005840" y="4023360"/>
            <a:ext cx="457200" cy="457200"/>
          </a:xfrm>
          <a:prstGeom prst="rect">
            <a:avLst/>
          </a:prstGeom>
          <a:noFill/>
          <a:ln/>
        </p:spPr>
        <p:txBody>
          <a:bodyPr wrap="square" lIns="0" tIns="0" rIns="0" bIns="0" rtlCol="0" anchor="ctr"/>
          <a:lstStyle/>
          <a:p>
            <a:pPr algn="ctr" indent="0" marL="0">
              <a:buNone/>
            </a:pPr>
            <a:r>
              <a:rPr lang="en-US" sz="1800" dirty="0">
                <a:solidFill>
                  <a:srgbClr val="FFFFFF"/>
                </a:solidFill>
                <a:latin typeface="Arial Black" pitchFamily="34" charset="0"/>
                <a:ea typeface="Arial Black" pitchFamily="34" charset="-122"/>
                <a:cs typeface="Arial Black" pitchFamily="34" charset="-120"/>
              </a:rPr>
              <a:t>4</a:t>
            </a:r>
            <a:endParaRPr lang="en-US" sz="1800" dirty="0"/>
          </a:p>
        </p:txBody>
      </p:sp>
      <p:sp>
        <p:nvSpPr>
          <p:cNvPr id="26" name="Text 24"/>
          <p:cNvSpPr/>
          <p:nvPr/>
        </p:nvSpPr>
        <p:spPr>
          <a:xfrm>
            <a:off x="1691640" y="3959352"/>
            <a:ext cx="64008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Multi-Team Rollout Plan</a:t>
            </a:r>
            <a:endParaRPr lang="en-US" sz="1400" dirty="0"/>
          </a:p>
        </p:txBody>
      </p:sp>
      <p:sp>
        <p:nvSpPr>
          <p:cNvPr id="27" name="Text 25"/>
          <p:cNvSpPr/>
          <p:nvPr/>
        </p:nvSpPr>
        <p:spPr>
          <a:xfrm>
            <a:off x="1691640" y="4251960"/>
            <a:ext cx="640080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Ads, Shopping, Trust &amp; Safety — phased adoption with shared AgentWorkflow and team-owned tool registries.</a:t>
            </a:r>
            <a:endParaRPr lang="en-US" sz="1100" dirty="0"/>
          </a:p>
        </p:txBody>
      </p:sp>
      <p:sp>
        <p:nvSpPr>
          <p:cNvPr id="28" name="Shape 26"/>
          <p:cNvSpPr/>
          <p:nvPr/>
        </p:nvSpPr>
        <p:spPr>
          <a:xfrm>
            <a:off x="731520" y="4754880"/>
            <a:ext cx="2743200" cy="0"/>
          </a:xfrm>
          <a:prstGeom prst="line">
            <a:avLst/>
          </a:prstGeom>
          <a:noFill/>
          <a:ln w="38100">
            <a:solidFill>
              <a:srgbClr val="3B82F6"/>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Production AI Agents at Pinterest with Temporal</dc:title>
  <dc:subject>PptxGenJS Presentation</dc:subject>
  <dc:creator>Temporal Solutions Architecture</dc:creator>
  <cp:lastModifiedBy>Temporal Solutions Architecture</cp:lastModifiedBy>
  <cp:revision>1</cp:revision>
  <dcterms:created xsi:type="dcterms:W3CDTF">2026-03-26T06:11:32Z</dcterms:created>
  <dcterms:modified xsi:type="dcterms:W3CDTF">2026-03-26T06:11:32Z</dcterms:modified>
</cp:coreProperties>
</file>